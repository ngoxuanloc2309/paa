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0" y="594360"/>
            <a:ext cx="2377440" cy="2377440"/>
          </a:xfrm>
          <a:prstGeom prst="roundRect">
            <a:avLst>
              <a:gd name="adj" fmla="val 18000"/>
            </a:avLst>
          </a:prstGeom>
          <a:solidFill>
            <a:srgbClr val="FF8749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95460" y="845820"/>
            <a:ext cx="1874519" cy="1874519"/>
          </a:xfrm>
          <a:prstGeom prst="roundRect">
            <a:avLst>
              <a:gd name="adj" fmla="val 18000"/>
            </a:avLst>
          </a:prstGeom>
          <a:solidFill>
            <a:srgbClr val="FF8749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46920" y="1097280"/>
            <a:ext cx="1371600" cy="1371600"/>
          </a:xfrm>
          <a:prstGeom prst="roundRect">
            <a:avLst>
              <a:gd name="adj" fmla="val 18000"/>
            </a:avLst>
          </a:prstGeom>
          <a:solidFill>
            <a:srgbClr val="FF8749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GIAO DIỆN CẤU HÌNH THIẾT BỊ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8749"/>
                </a:solidFill>
                <a:latin typeface="Calibri"/>
              </a:rPr>
              <a:t>Ý tưởng UX cho kỹ sư lắp đặt — cấu hình &amp; lập trình rule khi vận hành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80">
                <a:solidFill>
                  <a:srgbClr val="E06B34"/>
                </a:solidFill>
                <a:latin typeface="Calibri"/>
              </a:rPr>
              <a:t>WEB UI TRÊN THIẾT BỊ / PC TOOL  ·  KHÔNG CẦN BIẾT LẬP TRÌNH  ·  HOẠT ĐỘNG OFFLINE QUA RS485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5" y="310896"/>
            <a:ext cx="3035808" cy="99039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sse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2743200" cy="6977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788212" y="605332"/>
            <a:ext cx="252374" cy="252374"/>
          </a:xfrm>
          <a:prstGeom prst="hexagon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19" y="374904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0A4A4A"/>
                </a:solidFill>
                <a:latin typeface="Cambria"/>
              </a:rPr>
              <a:t>Nguyên tắc thiết kế giao diện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673352"/>
            <a:ext cx="502920" cy="50292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ision 7"/>
          <p:cNvSpPr/>
          <p:nvPr/>
        </p:nvSpPr>
        <p:spPr>
          <a:xfrm>
            <a:off x="1050188" y="1809140"/>
            <a:ext cx="231343" cy="231343"/>
          </a:xfrm>
          <a:prstGeom prst="flowChartDecision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636776"/>
            <a:ext cx="4023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 i="0">
                <a:solidFill>
                  <a:srgbClr val="0A4A4A"/>
                </a:solidFill>
                <a:latin typeface="Calibri"/>
              </a:rPr>
              <a:t>Không cần biết lập trình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70916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7474"/>
                </a:solidFill>
                <a:latin typeface="Calibri"/>
              </a:rPr>
              <a:t>Chọn từ dropdown, điền field — không gõ code, không cú pháp phải học.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1673352"/>
            <a:ext cx="502920" cy="50292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6673748" y="1809140"/>
            <a:ext cx="231343" cy="231343"/>
          </a:xfrm>
          <a:prstGeom prst="hexagon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636776"/>
            <a:ext cx="4023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 i="0">
                <a:solidFill>
                  <a:srgbClr val="0A4A4A"/>
                </a:solidFill>
                <a:latin typeface="Calibri"/>
              </a:rPr>
              <a:t>Hoạt động offline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331720"/>
            <a:ext cx="470916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7474"/>
                </a:solidFill>
                <a:latin typeface="Calibri"/>
              </a:rPr>
              <a:t>Web UI do chính thiết bị host, hoặc PC Tool nối RS485 trực tiếp — không phụ thuộc mạng/cloud.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14800"/>
            <a:ext cx="52578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370832"/>
            <a:ext cx="502920" cy="50292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ube 17"/>
          <p:cNvSpPr/>
          <p:nvPr/>
        </p:nvSpPr>
        <p:spPr>
          <a:xfrm>
            <a:off x="1050188" y="4506620"/>
            <a:ext cx="231343" cy="231343"/>
          </a:xfrm>
          <a:prstGeom prst="cube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4334256"/>
            <a:ext cx="4023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 i="0">
                <a:solidFill>
                  <a:srgbClr val="0A4A4A"/>
                </a:solidFill>
                <a:latin typeface="Calibri"/>
              </a:rPr>
              <a:t>Học 1 lần, dùng mọi thiết bị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29200"/>
            <a:ext cx="470916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7474"/>
                </a:solidFill>
                <a:latin typeface="Calibri"/>
              </a:rPr>
              <a:t>Cùng 1 giao diện Trigger–Guard–Action cho Remote I/O, Datalogger, Gateway.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114800"/>
            <a:ext cx="52578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60" y="4370832"/>
            <a:ext cx="502920" cy="50292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nut 22"/>
          <p:cNvSpPr/>
          <p:nvPr/>
        </p:nvSpPr>
        <p:spPr>
          <a:xfrm>
            <a:off x="6673748" y="4506620"/>
            <a:ext cx="231343" cy="231343"/>
          </a:xfrm>
          <a:prstGeom prst="donu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4334256"/>
            <a:ext cx="4023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 i="0">
                <a:solidFill>
                  <a:srgbClr val="0A4A4A"/>
                </a:solidFill>
                <a:latin typeface="Calibri"/>
              </a:rPr>
              <a:t>Mẫu dựng sẵn (Blueprint)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029200"/>
            <a:ext cx="470916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7474"/>
                </a:solidFill>
                <a:latin typeface="Calibri"/>
              </a:rPr>
              <a:t>Kịch bản phổ biến (Andon, đếm sản lượng) chỉ cần điền vài field, không cần vẽ từ đầu.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mbria"/>
              </a:rPr>
              <a:t>Luồng sử dụng tổng quan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9FB8B8"/>
                </a:solidFill>
                <a:latin typeface="Calibri"/>
              </a:rPr>
              <a:t>Từ lúc kỹ sư mở máy tính đến khi rule chạy trên thiết bị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600200" cy="182880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5860" y="2633472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1313992" y="2781604"/>
            <a:ext cx="252374" cy="252374"/>
          </a:xfrm>
          <a:prstGeom prst="hexagon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Kết nối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thiết bị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19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8749"/>
                </a:solidFill>
                <a:latin typeface="Calibri"/>
              </a:rPr>
              <a:t>1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06447" y="3172968"/>
            <a:ext cx="292608" cy="237744"/>
          </a:xfrm>
          <a:prstGeom prst="rightArrow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01798" y="2377440"/>
            <a:ext cx="1600200" cy="182880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27578" y="2633472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3175711" y="2781604"/>
            <a:ext cx="252374" cy="252374"/>
          </a:xfrm>
          <a:prstGeom prst="rightArrow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47518" y="333756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Xem danh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sách I/O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4638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8749"/>
                </a:solidFill>
                <a:latin typeface="Calibri"/>
              </a:rPr>
              <a:t>2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68165" y="3172968"/>
            <a:ext cx="292608" cy="237744"/>
          </a:xfrm>
          <a:prstGeom prst="rightArrow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63516" y="2377440"/>
            <a:ext cx="1600200" cy="182880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89296" y="2633472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ightning Bolt 18"/>
          <p:cNvSpPr/>
          <p:nvPr/>
        </p:nvSpPr>
        <p:spPr>
          <a:xfrm>
            <a:off x="5037429" y="2781604"/>
            <a:ext cx="252374" cy="252374"/>
          </a:xfrm>
          <a:prstGeom prst="lightningBol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9236" y="333756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Tạo / sửa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6356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8749"/>
                </a:solidFill>
                <a:latin typeface="Calibri"/>
              </a:rPr>
              <a:t>3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29884" y="3172968"/>
            <a:ext cx="292608" cy="237744"/>
          </a:xfrm>
          <a:prstGeom prst="rightArrow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25235" y="2377440"/>
            <a:ext cx="1600200" cy="182880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51015" y="2633472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ecision 24"/>
          <p:cNvSpPr/>
          <p:nvPr/>
        </p:nvSpPr>
        <p:spPr>
          <a:xfrm>
            <a:off x="6899148" y="2781604"/>
            <a:ext cx="252374" cy="252374"/>
          </a:xfrm>
          <a:prstGeom prst="flowChartDecision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0955" y="333756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Xem danh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sách rule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807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8749"/>
                </a:solidFill>
                <a:latin typeface="Calibri"/>
              </a:rPr>
              <a:t>4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791602" y="3172968"/>
            <a:ext cx="292608" cy="237744"/>
          </a:xfrm>
          <a:prstGeom prst="rightArrow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86953" y="2377440"/>
            <a:ext cx="1600200" cy="182880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12733" y="2633472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Up Arrow 30"/>
          <p:cNvSpPr/>
          <p:nvPr/>
        </p:nvSpPr>
        <p:spPr>
          <a:xfrm>
            <a:off x="8760866" y="2781604"/>
            <a:ext cx="252374" cy="252374"/>
          </a:xfrm>
          <a:prstGeom prst="upArrow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2673" y="333756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Nạp xuống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thiết bị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49793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8749"/>
                </a:solidFill>
                <a:latin typeface="Calibri"/>
              </a:rPr>
              <a:t>5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653320" y="3172968"/>
            <a:ext cx="292608" cy="237744"/>
          </a:xfrm>
          <a:prstGeom prst="rightArrow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948672" y="2377440"/>
            <a:ext cx="1600200" cy="182880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74451" y="2633472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onut 36"/>
          <p:cNvSpPr/>
          <p:nvPr/>
        </p:nvSpPr>
        <p:spPr>
          <a:xfrm>
            <a:off x="10622584" y="2781604"/>
            <a:ext cx="252374" cy="252374"/>
          </a:xfrm>
          <a:prstGeom prst="donu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94392" y="333756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Xác nhận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phiên bản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11511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8749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788212" y="605332"/>
            <a:ext cx="252374" cy="252374"/>
          </a:xfrm>
          <a:prstGeom prst="hexagon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19" y="374904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0A4A4A"/>
                </a:solidFill>
                <a:latin typeface="Cambria"/>
              </a:rPr>
              <a:t>Màn hình 1 — Kết nối thiết bị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188720"/>
            <a:ext cx="9235440" cy="51206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0" y="1188720"/>
            <a:ext cx="9235440" cy="457200"/>
          </a:xfrm>
          <a:prstGeom prst="rect">
            <a:avLst/>
          </a:prstGeom>
          <a:solidFill>
            <a:srgbClr val="1C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19072" y="1362456"/>
            <a:ext cx="109728" cy="109728"/>
          </a:xfrm>
          <a:prstGeom prst="ellipse">
            <a:avLst/>
          </a:prstGeom>
          <a:solidFill>
            <a:srgbClr val="C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20240" y="1362456"/>
            <a:ext cx="109728" cy="109728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21408" y="1362456"/>
            <a:ext cx="109728" cy="109728"/>
          </a:xfrm>
          <a:prstGeom prst="ellipse">
            <a:avLst/>
          </a:prstGeom>
          <a:solidFill>
            <a:srgbClr val="4E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188720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simpleplc-config.local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5039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A4A4A"/>
                </a:solidFill>
                <a:latin typeface="Calibri"/>
              </a:rPr>
              <a:t>Kết nối tới thiết bị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331720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5B7474"/>
                </a:solidFill>
                <a:latin typeface="Calibri"/>
              </a:rPr>
              <a:t>CỔNG KẾT NỐI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2587752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0" y="2587752"/>
            <a:ext cx="21488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B2424"/>
                </a:solidFill>
                <a:latin typeface="Calibri"/>
              </a:rPr>
              <a:t>COM5 — USB Serial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3088" y="2587752"/>
            <a:ext cx="2560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5B7474"/>
                </a:solidFill>
                <a:latin typeface="Calibri"/>
              </a:rPr>
              <a:t>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331720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5B7474"/>
                </a:solidFill>
                <a:latin typeface="Calibri"/>
              </a:rPr>
              <a:t>TỐC ĐỘ BAUD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2587752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2587752"/>
            <a:ext cx="21488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B2424"/>
                </a:solidFill>
                <a:latin typeface="Calibri"/>
              </a:rPr>
              <a:t>19200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2587752"/>
            <a:ext cx="2560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5B7474"/>
                </a:solidFill>
                <a:latin typeface="Calibri"/>
              </a:rPr>
              <a:t>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59" y="2331720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5B7474"/>
                </a:solidFill>
                <a:latin typeface="Calibri"/>
              </a:rPr>
              <a:t>ĐỊA CHỈ MODBUS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59" y="2587752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19" y="2587752"/>
            <a:ext cx="21488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B2424"/>
                </a:solidFill>
                <a:latin typeface="Calibri"/>
              </a:rPr>
              <a:t>Slave ID: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5247" y="2587752"/>
            <a:ext cx="2560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5B7474"/>
                </a:solidFill>
                <a:latin typeface="Calibri"/>
              </a:rPr>
              <a:t>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3319272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331927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A4A4A"/>
                </a:solidFill>
                <a:latin typeface="Calibri"/>
              </a:rPr>
              <a:t>Kết nối</a:t>
            </a:r>
          </a:p>
        </p:txBody>
      </p:sp>
      <p:sp>
        <p:nvSpPr>
          <p:cNvPr id="27" name="Oval 26"/>
          <p:cNvSpPr/>
          <p:nvPr/>
        </p:nvSpPr>
        <p:spPr>
          <a:xfrm>
            <a:off x="1847088" y="4059935"/>
            <a:ext cx="146304" cy="146304"/>
          </a:xfrm>
          <a:prstGeom prst="ellipse">
            <a:avLst/>
          </a:prstGeom>
          <a:solidFill>
            <a:srgbClr val="4E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21408" y="4005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E8A5E"/>
                </a:solidFill>
                <a:latin typeface="Calibri"/>
              </a:rPr>
              <a:t>Đã kết nối — Firmware v1.3, Rule v2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507992"/>
            <a:ext cx="85039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A4A4A"/>
                </a:solidFill>
                <a:latin typeface="Calibri"/>
              </a:rPr>
              <a:t>Thông tin thiết bị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828031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7474"/>
                </a:solidFill>
                <a:latin typeface="Calibri"/>
              </a:rPr>
              <a:t>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828031"/>
            <a:ext cx="5120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B2424"/>
                </a:solidFill>
                <a:latin typeface="Calibri"/>
              </a:rPr>
              <a:t>Remote I/O — 8DI/8DO/4AI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12064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7474"/>
                </a:solidFill>
                <a:latin typeface="Calibri"/>
              </a:rPr>
              <a:t>MCU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120640"/>
            <a:ext cx="5120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B2424"/>
                </a:solidFill>
                <a:latin typeface="Calibri"/>
              </a:rPr>
              <a:t>STM32H523CCU6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41324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7474"/>
                </a:solidFill>
                <a:latin typeface="Calibri"/>
              </a:rPr>
              <a:t>Số rule đang chạy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5413248"/>
            <a:ext cx="5120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B2424"/>
                </a:solidFill>
                <a:latin typeface="Calibri"/>
              </a:rPr>
              <a:t>37 / 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ision 3"/>
          <p:cNvSpPr/>
          <p:nvPr/>
        </p:nvSpPr>
        <p:spPr>
          <a:xfrm>
            <a:off x="788212" y="605332"/>
            <a:ext cx="252374" cy="252374"/>
          </a:xfrm>
          <a:prstGeom prst="flowChartDecision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19" y="374904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0A4A4A"/>
                </a:solidFill>
                <a:latin typeface="Cambria"/>
              </a:rPr>
              <a:t>Màn hình 2 — Danh sách Rule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463040"/>
            <a:ext cx="10149840" cy="4892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463040"/>
            <a:ext cx="10149840" cy="457200"/>
          </a:xfrm>
          <a:prstGeom prst="rect">
            <a:avLst/>
          </a:prstGeom>
          <a:solidFill>
            <a:srgbClr val="1C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61872" y="1636776"/>
            <a:ext cx="109728" cy="109728"/>
          </a:xfrm>
          <a:prstGeom prst="ellipse">
            <a:avLst/>
          </a:prstGeom>
          <a:solidFill>
            <a:srgbClr val="C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63040" y="1636776"/>
            <a:ext cx="109728" cy="109728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64208" y="1636776"/>
            <a:ext cx="109728" cy="109728"/>
          </a:xfrm>
          <a:prstGeom prst="ellipse">
            <a:avLst/>
          </a:prstGeom>
          <a:solidFill>
            <a:srgbClr val="4E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1463040"/>
            <a:ext cx="8869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simpleplc-config.local /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103120"/>
            <a:ext cx="1828800" cy="3977639"/>
          </a:xfrm>
          <a:prstGeom prst="roundRect">
            <a:avLst>
              <a:gd name="adj" fmla="val 3000"/>
            </a:avLst>
          </a:prstGeom>
          <a:solidFill>
            <a:srgbClr val="0A4A4A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27632" y="2459735"/>
            <a:ext cx="329184" cy="329184"/>
          </a:xfrm>
          <a:prstGeom prst="ellipse">
            <a:avLst/>
          </a:prstGeom>
          <a:solidFill>
            <a:srgbClr val="1C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1716511" y="2548615"/>
            <a:ext cx="151424" cy="151424"/>
          </a:xfrm>
          <a:prstGeom prst="hexagon">
            <a:avLst/>
          </a:prstGeom>
          <a:solidFill>
            <a:srgbClr val="BE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84832" y="2377439"/>
            <a:ext cx="960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BED2D2"/>
                </a:solidFill>
                <a:latin typeface="Calibri"/>
              </a:rPr>
              <a:t>Kết nối</a:t>
            </a:r>
          </a:p>
        </p:txBody>
      </p:sp>
      <p:sp>
        <p:nvSpPr>
          <p:cNvPr id="16" name="Oval 15"/>
          <p:cNvSpPr/>
          <p:nvPr/>
        </p:nvSpPr>
        <p:spPr>
          <a:xfrm>
            <a:off x="1627632" y="3081527"/>
            <a:ext cx="329184" cy="329184"/>
          </a:xfrm>
          <a:prstGeom prst="ellipse">
            <a:avLst/>
          </a:prstGeom>
          <a:solidFill>
            <a:srgbClr val="1C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1716511" y="3170407"/>
            <a:ext cx="151424" cy="151424"/>
          </a:xfrm>
          <a:prstGeom prst="rightArrow">
            <a:avLst/>
          </a:prstGeom>
          <a:solidFill>
            <a:srgbClr val="BE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84832" y="2999232"/>
            <a:ext cx="960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BED2D2"/>
                </a:solidFill>
                <a:latin typeface="Calibri"/>
              </a:rPr>
              <a:t>Tag I/O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81328" y="3621024"/>
            <a:ext cx="1609344" cy="502920"/>
          </a:xfrm>
          <a:prstGeom prst="roundRect">
            <a:avLst>
              <a:gd name="adj" fmla="val 20000"/>
            </a:avLst>
          </a:prstGeom>
          <a:solidFill>
            <a:srgbClr val="14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27632" y="3703320"/>
            <a:ext cx="329184" cy="329184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ecision 20"/>
          <p:cNvSpPr/>
          <p:nvPr/>
        </p:nvSpPr>
        <p:spPr>
          <a:xfrm>
            <a:off x="1716511" y="3792199"/>
            <a:ext cx="151424" cy="151424"/>
          </a:xfrm>
          <a:prstGeom prst="flowChartDecision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84832" y="3621024"/>
            <a:ext cx="960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23" name="Oval 22"/>
          <p:cNvSpPr/>
          <p:nvPr/>
        </p:nvSpPr>
        <p:spPr>
          <a:xfrm>
            <a:off x="1627632" y="4325112"/>
            <a:ext cx="329184" cy="329184"/>
          </a:xfrm>
          <a:prstGeom prst="ellipse">
            <a:avLst/>
          </a:prstGeom>
          <a:solidFill>
            <a:srgbClr val="1C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Up Arrow 23"/>
          <p:cNvSpPr/>
          <p:nvPr/>
        </p:nvSpPr>
        <p:spPr>
          <a:xfrm>
            <a:off x="1716511" y="4413991"/>
            <a:ext cx="151424" cy="151424"/>
          </a:xfrm>
          <a:prstGeom prst="upArrow">
            <a:avLst/>
          </a:prstGeom>
          <a:solidFill>
            <a:srgbClr val="BE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84832" y="4242816"/>
            <a:ext cx="960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BED2D2"/>
                </a:solidFill>
                <a:latin typeface="Calibri"/>
              </a:rPr>
              <a:t>Nạp xuống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2103120"/>
            <a:ext cx="54863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4A4A"/>
                </a:solidFill>
                <a:latin typeface="Calibri"/>
              </a:rPr>
              <a:t>Danh sách Rule (5 / 100)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59" y="2057400"/>
            <a:ext cx="1737360" cy="411480"/>
          </a:xfrm>
          <a:prstGeom prst="roundRect">
            <a:avLst>
              <a:gd name="adj" fmla="val 50000"/>
            </a:avLst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59" y="205740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A4A4A"/>
                </a:solidFill>
                <a:latin typeface="Calibri"/>
              </a:rPr>
              <a:t>+ Tạo rule mới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79" y="2606039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B7474"/>
                </a:solidFill>
                <a:latin typeface="Calibri"/>
              </a:rPr>
              <a:t>R1</a:t>
            </a:r>
          </a:p>
        </p:txBody>
      </p:sp>
      <p:sp>
        <p:nvSpPr>
          <p:cNvPr id="30" name="Oval 29"/>
          <p:cNvSpPr/>
          <p:nvPr/>
        </p:nvSpPr>
        <p:spPr>
          <a:xfrm>
            <a:off x="4069080" y="2788919"/>
            <a:ext cx="292608" cy="292608"/>
          </a:xfrm>
          <a:prstGeom prst="ellipse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ightning Bolt 30"/>
          <p:cNvSpPr/>
          <p:nvPr/>
        </p:nvSpPr>
        <p:spPr>
          <a:xfrm>
            <a:off x="4148084" y="2867924"/>
            <a:ext cx="134599" cy="134599"/>
          </a:xfrm>
          <a:prstGeom prst="lightningBolt">
            <a:avLst/>
          </a:prstGeom>
          <a:solidFill>
            <a:srgbClr val="E0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2606039"/>
            <a:ext cx="2514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424"/>
                </a:solidFill>
                <a:latin typeface="Calibri"/>
              </a:rPr>
              <a:t>DI1 bấm (nếu DI0 = ON)</a:t>
            </a:r>
          </a:p>
        </p:txBody>
      </p:sp>
      <p:sp>
        <p:nvSpPr>
          <p:cNvPr id="33" name="Oval 32"/>
          <p:cNvSpPr/>
          <p:nvPr/>
        </p:nvSpPr>
        <p:spPr>
          <a:xfrm>
            <a:off x="7132320" y="2788919"/>
            <a:ext cx="292608" cy="292608"/>
          </a:xfrm>
          <a:prstGeom prst="ellipse">
            <a:avLst/>
          </a:prstGeom>
          <a:solidFill>
            <a:srgbClr val="E9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7211324" y="2867924"/>
            <a:ext cx="134599" cy="134599"/>
          </a:xfrm>
          <a:prstGeom prst="rightArrow">
            <a:avLst/>
          </a:prstGeom>
          <a:solidFill>
            <a:srgbClr val="4E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2606039"/>
            <a:ext cx="21031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424"/>
                </a:solidFill>
                <a:latin typeface="Calibri"/>
              </a:rPr>
              <a:t>Đảo DO0 (đèn vàng)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38359" y="2834639"/>
            <a:ext cx="420624" cy="201168"/>
          </a:xfrm>
          <a:prstGeom prst="roundRect">
            <a:avLst>
              <a:gd name="adj" fmla="val 50000"/>
            </a:avLst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76103" y="2843783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86999" y="2606039"/>
            <a:ext cx="502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5B7474"/>
                </a:solidFill>
                <a:latin typeface="Calibri"/>
              </a:rPr>
              <a:t>✎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3264407"/>
            <a:ext cx="7315199" cy="658368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1879" y="3264407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B7474"/>
                </a:solidFill>
                <a:latin typeface="Calibri"/>
              </a:rPr>
              <a:t>R2</a:t>
            </a:r>
          </a:p>
        </p:txBody>
      </p:sp>
      <p:sp>
        <p:nvSpPr>
          <p:cNvPr id="41" name="Oval 40"/>
          <p:cNvSpPr/>
          <p:nvPr/>
        </p:nvSpPr>
        <p:spPr>
          <a:xfrm>
            <a:off x="4069080" y="3447287"/>
            <a:ext cx="292608" cy="292608"/>
          </a:xfrm>
          <a:prstGeom prst="ellipse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Lightning Bolt 41"/>
          <p:cNvSpPr/>
          <p:nvPr/>
        </p:nvSpPr>
        <p:spPr>
          <a:xfrm>
            <a:off x="4148084" y="3526292"/>
            <a:ext cx="134599" cy="134599"/>
          </a:xfrm>
          <a:prstGeom prst="lightningBolt">
            <a:avLst/>
          </a:prstGeom>
          <a:solidFill>
            <a:srgbClr val="E0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3264407"/>
            <a:ext cx="2514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424"/>
                </a:solidFill>
                <a:latin typeface="Calibri"/>
              </a:rPr>
              <a:t>Mỗi giây, nếu DO0 = ON</a:t>
            </a:r>
          </a:p>
        </p:txBody>
      </p:sp>
      <p:sp>
        <p:nvSpPr>
          <p:cNvPr id="44" name="Oval 43"/>
          <p:cNvSpPr/>
          <p:nvPr/>
        </p:nvSpPr>
        <p:spPr>
          <a:xfrm>
            <a:off x="7132320" y="3447287"/>
            <a:ext cx="292608" cy="292608"/>
          </a:xfrm>
          <a:prstGeom prst="ellipse">
            <a:avLst/>
          </a:prstGeom>
          <a:solidFill>
            <a:srgbClr val="E9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ight Arrow 44"/>
          <p:cNvSpPr/>
          <p:nvPr/>
        </p:nvSpPr>
        <p:spPr>
          <a:xfrm>
            <a:off x="7211324" y="3526292"/>
            <a:ext cx="134599" cy="134599"/>
          </a:xfrm>
          <a:prstGeom prst="rightArrow">
            <a:avLst/>
          </a:prstGeom>
          <a:solidFill>
            <a:srgbClr val="4E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79" y="3264407"/>
            <a:ext cx="21031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424"/>
                </a:solidFill>
                <a:latin typeface="Calibri"/>
              </a:rPr>
              <a:t>T1 += 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38359" y="3493007"/>
            <a:ext cx="420624" cy="201168"/>
          </a:xfrm>
          <a:prstGeom prst="roundRect">
            <a:avLst>
              <a:gd name="adj" fmla="val 50000"/>
            </a:avLst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976103" y="3502151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86999" y="3264407"/>
            <a:ext cx="502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5B7474"/>
                </a:solidFill>
                <a:latin typeface="Calibri"/>
              </a:rPr>
              <a:t>✎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11879" y="3922775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B7474"/>
                </a:solidFill>
                <a:latin typeface="Calibri"/>
              </a:rPr>
              <a:t>R3</a:t>
            </a:r>
          </a:p>
        </p:txBody>
      </p:sp>
      <p:sp>
        <p:nvSpPr>
          <p:cNvPr id="51" name="Oval 50"/>
          <p:cNvSpPr/>
          <p:nvPr/>
        </p:nvSpPr>
        <p:spPr>
          <a:xfrm>
            <a:off x="4069080" y="4105655"/>
            <a:ext cx="292608" cy="292608"/>
          </a:xfrm>
          <a:prstGeom prst="ellipse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Lightning Bolt 51"/>
          <p:cNvSpPr/>
          <p:nvPr/>
        </p:nvSpPr>
        <p:spPr>
          <a:xfrm>
            <a:off x="4148084" y="4184660"/>
            <a:ext cx="134599" cy="134599"/>
          </a:xfrm>
          <a:prstGeom prst="lightningBolt">
            <a:avLst/>
          </a:prstGeom>
          <a:solidFill>
            <a:srgbClr val="E0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34840" y="3922775"/>
            <a:ext cx="2514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424"/>
                </a:solidFill>
                <a:latin typeface="Calibri"/>
              </a:rPr>
              <a:t>T1 &gt; 10</a:t>
            </a:r>
          </a:p>
        </p:txBody>
      </p:sp>
      <p:sp>
        <p:nvSpPr>
          <p:cNvPr id="54" name="Oval 53"/>
          <p:cNvSpPr/>
          <p:nvPr/>
        </p:nvSpPr>
        <p:spPr>
          <a:xfrm>
            <a:off x="7132320" y="4105655"/>
            <a:ext cx="292608" cy="292608"/>
          </a:xfrm>
          <a:prstGeom prst="ellipse">
            <a:avLst/>
          </a:prstGeom>
          <a:solidFill>
            <a:srgbClr val="E9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ight Arrow 54"/>
          <p:cNvSpPr/>
          <p:nvPr/>
        </p:nvSpPr>
        <p:spPr>
          <a:xfrm>
            <a:off x="7211324" y="4184660"/>
            <a:ext cx="134599" cy="134599"/>
          </a:xfrm>
          <a:prstGeom prst="rightArrow">
            <a:avLst/>
          </a:prstGeom>
          <a:solidFill>
            <a:srgbClr val="4E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98079" y="3922775"/>
            <a:ext cx="21031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424"/>
                </a:solidFill>
                <a:latin typeface="Calibri"/>
              </a:rPr>
              <a:t>Bật DO1 (đèn đỏ)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738359" y="4151375"/>
            <a:ext cx="420624" cy="201168"/>
          </a:xfrm>
          <a:prstGeom prst="roundRect">
            <a:avLst>
              <a:gd name="adj" fmla="val 50000"/>
            </a:avLst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976103" y="4160519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86999" y="3922775"/>
            <a:ext cx="502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5B7474"/>
                </a:solidFill>
                <a:latin typeface="Calibri"/>
              </a:rPr>
              <a:t>✎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74720" y="4581143"/>
            <a:ext cx="7315199" cy="658368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11879" y="4581143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B7474"/>
                </a:solidFill>
                <a:latin typeface="Calibri"/>
              </a:rPr>
              <a:t>R4</a:t>
            </a:r>
          </a:p>
        </p:txBody>
      </p:sp>
      <p:sp>
        <p:nvSpPr>
          <p:cNvPr id="62" name="Oval 61"/>
          <p:cNvSpPr/>
          <p:nvPr/>
        </p:nvSpPr>
        <p:spPr>
          <a:xfrm>
            <a:off x="4069080" y="4764023"/>
            <a:ext cx="292608" cy="292608"/>
          </a:xfrm>
          <a:prstGeom prst="ellipse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ightning Bolt 62"/>
          <p:cNvSpPr/>
          <p:nvPr/>
        </p:nvSpPr>
        <p:spPr>
          <a:xfrm>
            <a:off x="4148084" y="4843028"/>
            <a:ext cx="134599" cy="134599"/>
          </a:xfrm>
          <a:prstGeom prst="lightningBolt">
            <a:avLst/>
          </a:prstGeom>
          <a:solidFill>
            <a:srgbClr val="E0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34840" y="4581143"/>
            <a:ext cx="2514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424"/>
                </a:solidFill>
                <a:latin typeface="Calibri"/>
              </a:rPr>
              <a:t>DO0 tắt</a:t>
            </a:r>
          </a:p>
        </p:txBody>
      </p:sp>
      <p:sp>
        <p:nvSpPr>
          <p:cNvPr id="65" name="Oval 64"/>
          <p:cNvSpPr/>
          <p:nvPr/>
        </p:nvSpPr>
        <p:spPr>
          <a:xfrm>
            <a:off x="7132320" y="4764023"/>
            <a:ext cx="292608" cy="292608"/>
          </a:xfrm>
          <a:prstGeom prst="ellipse">
            <a:avLst/>
          </a:prstGeom>
          <a:solidFill>
            <a:srgbClr val="E9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ight Arrow 65"/>
          <p:cNvSpPr/>
          <p:nvPr/>
        </p:nvSpPr>
        <p:spPr>
          <a:xfrm>
            <a:off x="7211324" y="4843028"/>
            <a:ext cx="134599" cy="134599"/>
          </a:xfrm>
          <a:prstGeom prst="rightArrow">
            <a:avLst/>
          </a:prstGeom>
          <a:solidFill>
            <a:srgbClr val="4E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98079" y="4581143"/>
            <a:ext cx="21031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B2424"/>
                </a:solidFill>
                <a:latin typeface="Calibri"/>
              </a:rPr>
              <a:t>T1 = 0, tắt DO1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738359" y="4809743"/>
            <a:ext cx="420624" cy="201168"/>
          </a:xfrm>
          <a:prstGeom prst="roundRect">
            <a:avLst>
              <a:gd name="adj" fmla="val 50000"/>
            </a:avLst>
          </a:prstGeom>
          <a:solidFill>
            <a:srgbClr val="BE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756647" y="4818887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286999" y="4581143"/>
            <a:ext cx="502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5B7474"/>
                </a:solidFill>
                <a:latin typeface="Calibri"/>
              </a:rPr>
              <a:t>✎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ightning Bolt 3"/>
          <p:cNvSpPr/>
          <p:nvPr/>
        </p:nvSpPr>
        <p:spPr>
          <a:xfrm>
            <a:off x="788212" y="605332"/>
            <a:ext cx="252374" cy="252374"/>
          </a:xfrm>
          <a:prstGeom prst="lightningBol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19" y="374904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0A4A4A"/>
                </a:solidFill>
                <a:latin typeface="Cambria"/>
              </a:rPr>
              <a:t>Màn hình 3 — Tạo Rule mới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1051560"/>
            <a:ext cx="9784080" cy="5349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1051560"/>
            <a:ext cx="9784080" cy="457200"/>
          </a:xfrm>
          <a:prstGeom prst="rect">
            <a:avLst/>
          </a:prstGeom>
          <a:solidFill>
            <a:srgbClr val="1C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44752" y="1225295"/>
            <a:ext cx="109728" cy="109728"/>
          </a:xfrm>
          <a:prstGeom prst="ellipse">
            <a:avLst/>
          </a:prstGeom>
          <a:solidFill>
            <a:srgbClr val="C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45920" y="1225295"/>
            <a:ext cx="109728" cy="109728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47088" y="1225295"/>
            <a:ext cx="109728" cy="109728"/>
          </a:xfrm>
          <a:prstGeom prst="ellipse">
            <a:avLst/>
          </a:prstGeom>
          <a:solidFill>
            <a:srgbClr val="4E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1051560"/>
            <a:ext cx="85039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simpleplc-config.local / rules / new</a:t>
            </a:r>
          </a:p>
        </p:txBody>
      </p:sp>
      <p:sp>
        <p:nvSpPr>
          <p:cNvPr id="12" name="Oval 11"/>
          <p:cNvSpPr/>
          <p:nvPr/>
        </p:nvSpPr>
        <p:spPr>
          <a:xfrm>
            <a:off x="1554480" y="1691639"/>
            <a:ext cx="365760" cy="36576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ightning Bolt 12"/>
          <p:cNvSpPr/>
          <p:nvPr/>
        </p:nvSpPr>
        <p:spPr>
          <a:xfrm>
            <a:off x="1653235" y="1790395"/>
            <a:ext cx="168249" cy="168249"/>
          </a:xfrm>
          <a:prstGeom prst="lightningBol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1709928"/>
            <a:ext cx="23164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0A4A4A"/>
                </a:solidFill>
                <a:latin typeface="Calibri"/>
              </a:rPr>
              <a:t>KHI NÀO (Trigger)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148839"/>
            <a:ext cx="2773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5B7474"/>
                </a:solidFill>
                <a:latin typeface="Calibri"/>
              </a:rPr>
              <a:t>LOẠI TRIGGER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0" y="2404872"/>
            <a:ext cx="2773679" cy="4572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2404872"/>
            <a:ext cx="22707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B2424"/>
                </a:solidFill>
                <a:latin typeface="Calibri"/>
              </a:rPr>
              <a:t>Sườn lên (ON_RISE)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0687" y="2404872"/>
            <a:ext cx="2560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5B7474"/>
                </a:solidFill>
                <a:latin typeface="Calibri"/>
              </a:rPr>
              <a:t>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063240"/>
            <a:ext cx="2773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5B7474"/>
                </a:solidFill>
                <a:latin typeface="Calibri"/>
              </a:rPr>
              <a:t>TAG NGUỒN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4480" y="3319272"/>
            <a:ext cx="2773679" cy="4572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91640" y="3319272"/>
            <a:ext cx="22707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B2424"/>
                </a:solidFill>
                <a:latin typeface="Calibri"/>
              </a:rPr>
              <a:t>DI1 — Nút gọi cấp liệu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80687" y="3319272"/>
            <a:ext cx="2560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5B7474"/>
                </a:solidFill>
                <a:latin typeface="Calibri"/>
              </a:rPr>
              <a:t>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977639"/>
            <a:ext cx="2773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5B7474"/>
                </a:solidFill>
                <a:latin typeface="Calibri"/>
              </a:rPr>
              <a:t>GIỮ LIÊN TỤC (tuỳ chọn)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54480" y="4233672"/>
            <a:ext cx="2773679" cy="4572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1640" y="4233672"/>
            <a:ext cx="22707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1">
                <a:solidFill>
                  <a:srgbClr val="9FB8B8"/>
                </a:solidFill>
                <a:latin typeface="Calibri"/>
              </a:rPr>
              <a:t>0 ms</a:t>
            </a:r>
          </a:p>
        </p:txBody>
      </p:sp>
      <p:sp>
        <p:nvSpPr>
          <p:cNvPr id="26" name="Oval 25"/>
          <p:cNvSpPr/>
          <p:nvPr/>
        </p:nvSpPr>
        <p:spPr>
          <a:xfrm>
            <a:off x="4693920" y="1691639"/>
            <a:ext cx="365760" cy="36576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ecision 26"/>
          <p:cNvSpPr/>
          <p:nvPr/>
        </p:nvSpPr>
        <p:spPr>
          <a:xfrm>
            <a:off x="4792675" y="1790395"/>
            <a:ext cx="168249" cy="168249"/>
          </a:xfrm>
          <a:prstGeom prst="flowChartDecision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51120" y="1709928"/>
            <a:ext cx="23164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0A4A4A"/>
                </a:solidFill>
                <a:latin typeface="Calibri"/>
              </a:rPr>
              <a:t>GUARD (tuỳ chọn)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3920" y="2148839"/>
            <a:ext cx="2773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5B7474"/>
                </a:solidFill>
                <a:latin typeface="Calibri"/>
              </a:rPr>
              <a:t>CHỈ CHẠY NẾU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93920" y="2404872"/>
            <a:ext cx="2773679" cy="4572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31080" y="2404872"/>
            <a:ext cx="22707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B2424"/>
                </a:solidFill>
                <a:latin typeface="Calibri"/>
              </a:rPr>
              <a:t>DI0 = ON (máy đang chạy)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20128" y="2404872"/>
            <a:ext cx="2560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5B7474"/>
                </a:solidFill>
                <a:latin typeface="Calibri"/>
              </a:rPr>
              <a:t>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3920" y="3063240"/>
            <a:ext cx="2773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5B7474"/>
                </a:solidFill>
                <a:latin typeface="Calibri"/>
              </a:rPr>
              <a:t>ĐẢO DẤU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93920" y="3319272"/>
            <a:ext cx="2773679" cy="4572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31080" y="3319272"/>
            <a:ext cx="22707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1">
                <a:solidFill>
                  <a:srgbClr val="9FB8B8"/>
                </a:solidFill>
                <a:latin typeface="Calibri"/>
              </a:rPr>
              <a:t>Không (mặc định)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20128" y="3319272"/>
            <a:ext cx="2560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5B7474"/>
                </a:solidFill>
                <a:latin typeface="Calibri"/>
              </a:rPr>
              <a:t>▾</a:t>
            </a:r>
          </a:p>
        </p:txBody>
      </p:sp>
      <p:sp>
        <p:nvSpPr>
          <p:cNvPr id="37" name="Oval 36"/>
          <p:cNvSpPr/>
          <p:nvPr/>
        </p:nvSpPr>
        <p:spPr>
          <a:xfrm>
            <a:off x="7833360" y="1691639"/>
            <a:ext cx="365760" cy="36576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7932115" y="1790395"/>
            <a:ext cx="168249" cy="168249"/>
          </a:xfrm>
          <a:prstGeom prst="rightArrow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90560" y="1709928"/>
            <a:ext cx="23164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0A4A4A"/>
                </a:solidFill>
                <a:latin typeface="Calibri"/>
              </a:rPr>
              <a:t>THÌ LÀM GÌ (Action)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33360" y="2148839"/>
            <a:ext cx="2773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5B7474"/>
                </a:solidFill>
                <a:latin typeface="Calibri"/>
              </a:rPr>
              <a:t>HÀNH ĐỘNG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33360" y="2404872"/>
            <a:ext cx="2773679" cy="4572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0520" y="2404872"/>
            <a:ext cx="22707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B2424"/>
                </a:solidFill>
                <a:latin typeface="Calibri"/>
              </a:rPr>
              <a:t>Đảo trạng thái (Toggle)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59567" y="2404872"/>
            <a:ext cx="2560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5B7474"/>
                </a:solidFill>
                <a:latin typeface="Calibri"/>
              </a:rPr>
              <a:t>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33360" y="3063240"/>
            <a:ext cx="2773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5B7474"/>
                </a:solidFill>
                <a:latin typeface="Calibri"/>
              </a:rPr>
              <a:t>TAG ĐÍCH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33360" y="3319272"/>
            <a:ext cx="2773679" cy="4572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70520" y="3319272"/>
            <a:ext cx="22707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B2424"/>
                </a:solidFill>
                <a:latin typeface="Calibri"/>
              </a:rPr>
              <a:t>DO0 — Đèn vàng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59567" y="3319272"/>
            <a:ext cx="2560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5B7474"/>
                </a:solidFill>
                <a:latin typeface="Calibri"/>
              </a:rPr>
              <a:t>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33360" y="3977639"/>
            <a:ext cx="2773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5B7474"/>
                </a:solidFill>
                <a:latin typeface="Calibri"/>
              </a:rPr>
              <a:t>GIÁ TRỊ (nếu cần)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33360" y="4233672"/>
            <a:ext cx="2773679" cy="4572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70520" y="4233672"/>
            <a:ext cx="22707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1">
                <a:solidFill>
                  <a:srgbClr val="9FB8B8"/>
                </a:solidFill>
                <a:latin typeface="Calibri"/>
              </a:rPr>
              <a:t>— (không dùng cho Toggle)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54480" y="5029200"/>
            <a:ext cx="90525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5B7474"/>
                </a:solidFill>
                <a:latin typeface="Calibri"/>
              </a:rPr>
              <a:t>Xem trước: "Khi DI1 bấm, nếu DI0 đang ON, thì đảo trạng thái DO0."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33360" y="5349240"/>
            <a:ext cx="1608734" cy="411480"/>
          </a:xfrm>
          <a:prstGeom prst="roundRect">
            <a:avLst>
              <a:gd name="adj" fmla="val 50000"/>
            </a:avLst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33360" y="5349240"/>
            <a:ext cx="160873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A4A4A"/>
                </a:solidFill>
                <a:latin typeface="Calibri"/>
              </a:rPr>
              <a:t>Lưu rule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579254" y="5349240"/>
            <a:ext cx="1027785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F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79254" y="5349240"/>
            <a:ext cx="102778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A4A4A"/>
                </a:solidFill>
                <a:latin typeface="Calibri"/>
              </a:rPr>
              <a:t>Huỷ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788212" y="605332"/>
            <a:ext cx="252374" cy="252374"/>
          </a:xfrm>
          <a:prstGeom prst="donu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19" y="374904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0A4A4A"/>
                </a:solidFill>
                <a:latin typeface="Cambria"/>
              </a:rPr>
              <a:t>Màn hình 4 — Mẫu dựng sẵn (Blueprint)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463040"/>
            <a:ext cx="10149840" cy="47548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463040"/>
            <a:ext cx="10149840" cy="457200"/>
          </a:xfrm>
          <a:prstGeom prst="rect">
            <a:avLst/>
          </a:prstGeom>
          <a:solidFill>
            <a:srgbClr val="1C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61872" y="1636776"/>
            <a:ext cx="109728" cy="109728"/>
          </a:xfrm>
          <a:prstGeom prst="ellipse">
            <a:avLst/>
          </a:prstGeom>
          <a:solidFill>
            <a:srgbClr val="C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63040" y="1636776"/>
            <a:ext cx="109728" cy="109728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64208" y="1636776"/>
            <a:ext cx="109728" cy="109728"/>
          </a:xfrm>
          <a:prstGeom prst="ellipse">
            <a:avLst/>
          </a:prstGeom>
          <a:solidFill>
            <a:srgbClr val="4E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1463040"/>
            <a:ext cx="8869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simpleplc-config.local / blueprints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103120"/>
            <a:ext cx="9418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0A4A4A"/>
                </a:solidFill>
                <a:latin typeface="Calibri"/>
              </a:rPr>
              <a:t>Chọn mẫu có sẵn, chỉ cần điền vài field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651760"/>
            <a:ext cx="2956559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75560" y="2880360"/>
            <a:ext cx="548640" cy="548640"/>
          </a:xfrm>
          <a:prstGeom prst="ellipse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ightning Bolt 14"/>
          <p:cNvSpPr/>
          <p:nvPr/>
        </p:nvSpPr>
        <p:spPr>
          <a:xfrm>
            <a:off x="2723692" y="3028492"/>
            <a:ext cx="252374" cy="252374"/>
          </a:xfrm>
          <a:prstGeom prst="lightningBolt">
            <a:avLst/>
          </a:prstGeom>
          <a:solidFill>
            <a:srgbClr val="E0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566160"/>
            <a:ext cx="25907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0A4A4A"/>
                </a:solidFill>
                <a:latin typeface="Calibri"/>
              </a:rPr>
              <a:t>Andon: máy dừng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931920"/>
            <a:ext cx="2499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7474"/>
                </a:solidFill>
                <a:latin typeface="Calibri"/>
              </a:rPr>
              <a:t>Cảnh báo khi máy dừng quá X phút trong ca sản xuất.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00200" y="4617720"/>
            <a:ext cx="2499359" cy="411480"/>
          </a:xfrm>
          <a:prstGeom prst="roundRect">
            <a:avLst>
              <a:gd name="adj" fmla="val 50000"/>
            </a:avLst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4617720"/>
            <a:ext cx="249935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A4A4A"/>
                </a:solidFill>
                <a:latin typeface="Calibri"/>
              </a:rPr>
              <a:t>Dùng mẫu này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02480" y="2651760"/>
            <a:ext cx="2956559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06440" y="2880360"/>
            <a:ext cx="548640" cy="548640"/>
          </a:xfrm>
          <a:prstGeom prst="ellipse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entagon 21"/>
          <p:cNvSpPr/>
          <p:nvPr/>
        </p:nvSpPr>
        <p:spPr>
          <a:xfrm>
            <a:off x="5954572" y="3028492"/>
            <a:ext cx="252374" cy="252374"/>
          </a:xfrm>
          <a:prstGeom prst="homePlate">
            <a:avLst/>
          </a:prstGeom>
          <a:solidFill>
            <a:srgbClr val="E0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85360" y="3566160"/>
            <a:ext cx="25907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0A4A4A"/>
                </a:solidFill>
                <a:latin typeface="Calibri"/>
              </a:rPr>
              <a:t>Đếm sản lượng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31080" y="3931920"/>
            <a:ext cx="2499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7474"/>
                </a:solidFill>
                <a:latin typeface="Calibri"/>
              </a:rPr>
              <a:t>Đếm sườn xung từ cảm biến, cộng dồn vào 1 bộ đếm tổng.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31080" y="4617720"/>
            <a:ext cx="2499359" cy="411480"/>
          </a:xfrm>
          <a:prstGeom prst="roundRect">
            <a:avLst>
              <a:gd name="adj" fmla="val 50000"/>
            </a:avLst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31080" y="4617720"/>
            <a:ext cx="249935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A4A4A"/>
                </a:solidFill>
                <a:latin typeface="Calibri"/>
              </a:rPr>
              <a:t>Dùng mẫu này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33360" y="2651760"/>
            <a:ext cx="2956559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037320" y="2880360"/>
            <a:ext cx="548640" cy="548640"/>
          </a:xfrm>
          <a:prstGeom prst="ellipse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xagon 28"/>
          <p:cNvSpPr/>
          <p:nvPr/>
        </p:nvSpPr>
        <p:spPr>
          <a:xfrm>
            <a:off x="9185452" y="3028492"/>
            <a:ext cx="252374" cy="252374"/>
          </a:xfrm>
          <a:prstGeom prst="hexagon">
            <a:avLst/>
          </a:prstGeom>
          <a:solidFill>
            <a:srgbClr val="E0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6239" y="3566160"/>
            <a:ext cx="25907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0A4A4A"/>
                </a:solidFill>
                <a:latin typeface="Calibri"/>
              </a:rPr>
              <a:t>Gọi cấp liệu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1960" y="3931920"/>
            <a:ext cx="2499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7474"/>
                </a:solidFill>
                <a:latin typeface="Calibri"/>
              </a:rPr>
              <a:t>Đèn vàng khi bấm nút, leo thang đèn đỏ nếu chờ quá lâu.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4617720"/>
            <a:ext cx="2499359" cy="411480"/>
          </a:xfrm>
          <a:prstGeom prst="roundRect">
            <a:avLst>
              <a:gd name="adj" fmla="val 50000"/>
            </a:avLst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61960" y="4617720"/>
            <a:ext cx="249935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A4A4A"/>
                </a:solidFill>
                <a:latin typeface="Calibri"/>
              </a:rPr>
              <a:t>Dùng mẫu này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788212" y="605332"/>
            <a:ext cx="252374" cy="252374"/>
          </a:xfrm>
          <a:prstGeom prst="upArrow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19" y="374904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0A4A4A"/>
                </a:solidFill>
                <a:latin typeface="Cambria"/>
              </a:rPr>
              <a:t>Màn hình 5 — Nạp cấu hình xuống thiết bị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188720"/>
            <a:ext cx="8503920" cy="51206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1188720"/>
            <a:ext cx="8503920" cy="457200"/>
          </a:xfrm>
          <a:prstGeom prst="rect">
            <a:avLst/>
          </a:prstGeom>
          <a:solidFill>
            <a:srgbClr val="1C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84832" y="1362456"/>
            <a:ext cx="109728" cy="109728"/>
          </a:xfrm>
          <a:prstGeom prst="ellipse">
            <a:avLst/>
          </a:prstGeom>
          <a:solidFill>
            <a:srgbClr val="C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0" y="1362456"/>
            <a:ext cx="109728" cy="109728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87168" y="1362456"/>
            <a:ext cx="109728" cy="109728"/>
          </a:xfrm>
          <a:prstGeom prst="ellipse">
            <a:avLst/>
          </a:prstGeom>
          <a:solidFill>
            <a:srgbClr val="4E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18872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simpleplc-config.local / 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82880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4A4A"/>
                </a:solidFill>
                <a:latin typeface="Calibri"/>
              </a:rPr>
              <a:t>Đang nạp 37 rule xuống thiết bị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2286000"/>
            <a:ext cx="7772400" cy="320040"/>
          </a:xfrm>
          <a:prstGeom prst="roundRect">
            <a:avLst>
              <a:gd name="adj" fmla="val 50000"/>
            </a:avLst>
          </a:prstGeom>
          <a:solidFill>
            <a:srgbClr val="DDD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94560" y="2286000"/>
            <a:ext cx="5440679" cy="320040"/>
          </a:xfrm>
          <a:prstGeom prst="roundRect">
            <a:avLst>
              <a:gd name="adj" fmla="val 50000"/>
            </a:avLst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2670048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7474"/>
                </a:solidFill>
                <a:latin typeface="Calibri"/>
              </a:rPr>
              <a:t>70% — đang ghi STAGING_BUFFER (khung 9/13)</a:t>
            </a:r>
          </a:p>
        </p:txBody>
      </p:sp>
      <p:sp>
        <p:nvSpPr>
          <p:cNvPr id="16" name="Oval 15"/>
          <p:cNvSpPr/>
          <p:nvPr/>
        </p:nvSpPr>
        <p:spPr>
          <a:xfrm>
            <a:off x="2212848" y="3182112"/>
            <a:ext cx="201168" cy="201168"/>
          </a:xfrm>
          <a:prstGeom prst="ellipse">
            <a:avLst/>
          </a:prstGeom>
          <a:solidFill>
            <a:srgbClr val="4E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12848" y="3182112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1272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B2424"/>
                </a:solidFill>
                <a:latin typeface="Calibri"/>
              </a:rPr>
              <a:t>Ghi số lượng rule &amp; CRC mong đợi</a:t>
            </a:r>
          </a:p>
        </p:txBody>
      </p:sp>
      <p:sp>
        <p:nvSpPr>
          <p:cNvPr id="19" name="Oval 18"/>
          <p:cNvSpPr/>
          <p:nvPr/>
        </p:nvSpPr>
        <p:spPr>
          <a:xfrm>
            <a:off x="2212848" y="3566160"/>
            <a:ext cx="201168" cy="201168"/>
          </a:xfrm>
          <a:prstGeom prst="ellipse">
            <a:avLst/>
          </a:prstGeom>
          <a:solidFill>
            <a:srgbClr val="4E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12848" y="356616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5112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B2424"/>
                </a:solidFill>
                <a:latin typeface="Calibri"/>
              </a:rPr>
              <a:t>Ghi dữ liệu rule (staging)</a:t>
            </a:r>
          </a:p>
        </p:txBody>
      </p:sp>
      <p:sp>
        <p:nvSpPr>
          <p:cNvPr id="22" name="Oval 21"/>
          <p:cNvSpPr/>
          <p:nvPr/>
        </p:nvSpPr>
        <p:spPr>
          <a:xfrm>
            <a:off x="2212848" y="3950208"/>
            <a:ext cx="201168" cy="201168"/>
          </a:xfrm>
          <a:prstGeom prst="ellipse">
            <a:avLst/>
          </a:prstGeom>
          <a:solidFill>
            <a:srgbClr val="BE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3950208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389534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9FB8B8"/>
                </a:solidFill>
                <a:latin typeface="Calibri"/>
              </a:rPr>
              <a:t>Kiểm tra CRC &amp; xác nhận</a:t>
            </a:r>
          </a:p>
        </p:txBody>
      </p:sp>
      <p:sp>
        <p:nvSpPr>
          <p:cNvPr id="25" name="Oval 24"/>
          <p:cNvSpPr/>
          <p:nvPr/>
        </p:nvSpPr>
        <p:spPr>
          <a:xfrm>
            <a:off x="2212848" y="4334256"/>
            <a:ext cx="201168" cy="201168"/>
          </a:xfrm>
          <a:prstGeom prst="ellipse">
            <a:avLst/>
          </a:prstGeom>
          <a:solidFill>
            <a:srgbClr val="BE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12848" y="43342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279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9FB8B8"/>
                </a:solidFill>
                <a:latin typeface="Calibri"/>
              </a:rPr>
              <a:t>Áp dụng (atomic-commit)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4560" y="4828032"/>
            <a:ext cx="7772400" cy="77724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23160" y="4946904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7474"/>
                </a:solidFill>
                <a:latin typeface="Calibri"/>
              </a:rPr>
              <a:t>An toàn: rule đang chạy KHÔNG bị thay cho tới khi CRC khớp và bước cuối hoàn tất — mất kết nối giữa chừng không làm hỏng cấu hình hiện tại.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0A4A4A"/>
                </a:solidFill>
                <a:latin typeface="Calibri"/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19" y="374904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mbria"/>
              </a:rPr>
              <a:t>Tóm tắt nguyên tắc 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587752" cy="292608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13916" y="2057400"/>
            <a:ext cx="640080" cy="64008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ision 6"/>
          <p:cNvSpPr/>
          <p:nvPr/>
        </p:nvSpPr>
        <p:spPr>
          <a:xfrm>
            <a:off x="1786737" y="2230221"/>
            <a:ext cx="294436" cy="294436"/>
          </a:xfrm>
          <a:prstGeom prst="flowChartDecision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44368"/>
            <a:ext cx="231343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Không cần biết lập trình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611879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BED2D2"/>
                </a:solidFill>
                <a:latin typeface="Calibri"/>
              </a:rPr>
              <a:t>Toàn bộ thao tác qua dropdown, form — không gõ code.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4136" y="1737360"/>
            <a:ext cx="2587752" cy="292608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47972" y="2057400"/>
            <a:ext cx="640080" cy="64008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4520793" y="2230221"/>
            <a:ext cx="294436" cy="294436"/>
          </a:xfrm>
          <a:prstGeom prst="hexagon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2944368"/>
            <a:ext cx="231343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Offline qua RS485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3611879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BED2D2"/>
                </a:solidFill>
                <a:latin typeface="Calibri"/>
              </a:rPr>
              <a:t>Không bắt buộc Internet/cloud để cấu hình tại hiện trường.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2" y="1737360"/>
            <a:ext cx="2587752" cy="292608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82028" y="2057400"/>
            <a:ext cx="640080" cy="64008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nut 16"/>
          <p:cNvSpPr/>
          <p:nvPr/>
        </p:nvSpPr>
        <p:spPr>
          <a:xfrm>
            <a:off x="7254849" y="2230221"/>
            <a:ext cx="294436" cy="294436"/>
          </a:xfrm>
          <a:prstGeom prst="donu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2944368"/>
            <a:ext cx="231343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Mẫu dựng sẵn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3611879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BED2D2"/>
                </a:solidFill>
                <a:latin typeface="Calibri"/>
              </a:rPr>
              <a:t>Kịch bản phổ biến dùng ngay, không cần vẽ từ đầu.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42248" y="1737360"/>
            <a:ext cx="2587752" cy="292608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16084" y="2057400"/>
            <a:ext cx="640080" cy="64008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ube 21"/>
          <p:cNvSpPr/>
          <p:nvPr/>
        </p:nvSpPr>
        <p:spPr>
          <a:xfrm>
            <a:off x="9988905" y="2230221"/>
            <a:ext cx="294436" cy="294436"/>
          </a:xfrm>
          <a:prstGeom prst="cube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79408" y="2944368"/>
            <a:ext cx="231343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1 giao diện, mọi thiết bị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3611879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BED2D2"/>
                </a:solidFill>
                <a:latin typeface="Calibri"/>
              </a:rPr>
              <a:t>Cùng trải nghiệm cho Remote I/O, Datalogger, Gateway.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FB8B8"/>
                </a:solidFill>
                <a:latin typeface="Calibri"/>
              </a:rPr>
              <a:t>Đây là bản phác thảo ý tưởng UX (wireframe) — thiết kế giao diện chi tiết/thẩm mỹ sẽ làm ở bước sau.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