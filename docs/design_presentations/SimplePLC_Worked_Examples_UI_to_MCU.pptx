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0" y="594360"/>
            <a:ext cx="2377440" cy="237744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95460" y="845820"/>
            <a:ext cx="1874519" cy="1874519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1097280"/>
            <a:ext cx="1371600" cy="1371600"/>
          </a:xfrm>
          <a:prstGeom prst="roundRect">
            <a:avLst>
              <a:gd name="adj" fmla="val 18000"/>
            </a:avLst>
          </a:prstGeom>
          <a:solidFill>
            <a:srgbClr val="FF874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TỪ GIAO DIỆN ĐẾN FIRMWARE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8749"/>
                </a:solidFill>
                <a:latin typeface="Calibri"/>
              </a:rPr>
              <a:t>3 ví dụ kinh điển — kỹ sư dùng UI, thiết bị chạy ra sao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ED2D2"/>
                </a:solidFill>
                <a:latin typeface="Calibri"/>
              </a:rPr>
              <a:t>Andon  ·  Đếm sản lượng (retain)  ·  Gọi cấp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80">
                <a:solidFill>
                  <a:srgbClr val="E06B34"/>
                </a:solidFill>
                <a:latin typeface="Calibri"/>
              </a:rPr>
              <a:t>GIAO DIỆN CẤU HÌNH → RULE STRUCT (28 BYTE) → THỰC THI TRÊN STM32H523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" y="310896"/>
            <a:ext cx="3035808" cy="99039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743200" cy="697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775868" y="547268"/>
            <a:ext cx="231343" cy="231343"/>
          </a:xfrm>
          <a:prstGeom prst="rightArrow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4747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A4A4A"/>
                </a:solidFill>
                <a:latin typeface="Cambria"/>
              </a:rPr>
              <a:t>Từ giao diện tới firmware — 3 tầng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71700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ision 7"/>
          <p:cNvSpPr/>
          <p:nvPr/>
        </p:nvSpPr>
        <p:spPr>
          <a:xfrm>
            <a:off x="2344521" y="2230221"/>
            <a:ext cx="294436" cy="294436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A4A4A"/>
                </a:solidFill>
                <a:latin typeface="Calibri"/>
              </a:rPr>
              <a:t>1. GIAO DIỆN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Kỹ sư lắp đặt chọn Trigger / Guard / Action bằng dropdown — không gõ code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33672" y="2962656"/>
            <a:ext cx="310896" cy="292608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6460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6139281" y="2230221"/>
            <a:ext cx="294436" cy="294436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880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A4A4A"/>
                </a:solidFill>
                <a:latin typeface="Calibri"/>
              </a:rPr>
              <a:t>2. RULE 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37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Tool đóng gói thành bản ghi nhị phân 28 byte, nạp qua Modbus (mục 5, tài liệu docx)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28432" y="2962656"/>
            <a:ext cx="310896" cy="292608"/>
          </a:xfrm>
          <a:prstGeom prst="rightArrow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737360"/>
            <a:ext cx="33375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61220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ightning Bolt 19"/>
          <p:cNvSpPr/>
          <p:nvPr/>
        </p:nvSpPr>
        <p:spPr>
          <a:xfrm>
            <a:off x="9934041" y="2230221"/>
            <a:ext cx="294436" cy="294436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88036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A4A4A"/>
                </a:solidFill>
                <a:latin typeface="Calibri"/>
              </a:rPr>
              <a:t>3. THỰC THI TRÊN MCU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33756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474"/>
                </a:solidFill>
                <a:latin typeface="Calibri"/>
              </a:rPr>
              <a:t>rule_scan() trong vòng quét 10ms trên STM32H523 đọc bảng, thi hành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4632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B7474"/>
                </a:solidFill>
                <a:latin typeface="Calibri"/>
              </a:rPr>
              <a:t>3 slide tiếp theo đi qua đúng 3 tầng này cho từng ví dụ — không lặp lại chi tiết đã có ở deck kỹ thuật/UI trước đó.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ghtning Bolt 3"/>
          <p:cNvSpPr/>
          <p:nvPr/>
        </p:nvSpPr>
        <p:spPr>
          <a:xfrm>
            <a:off x="775868" y="547268"/>
            <a:ext cx="231343" cy="231343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4747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A4A4A"/>
                </a:solidFill>
                <a:latin typeface="Cambria"/>
              </a:rPr>
              <a:t>Ví dụ 1 — Andon: máy dừng quá 5 phút trong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81381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B7474"/>
                </a:solidFill>
                <a:latin typeface="Calibri"/>
              </a:rPr>
              <a:t>Bài toán: máy dừng liên tục &gt;5' trong ca, hoặc công nhân bấm nút gọi → cần tự động bật đèn đỏ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8"/>
          <p:cNvSpPr/>
          <p:nvPr/>
        </p:nvSpPr>
        <p:spPr>
          <a:xfrm>
            <a:off x="967435" y="1698955"/>
            <a:ext cx="168249" cy="168249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1. Giao diện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TRIGGER — LOẠI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23744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2374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Sườn xuống (ON_FALL)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71216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TRIGGER — TAG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17520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DI0 — Máy đang chạy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64992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GIỮ LIÊN TỤC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11296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11296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300 000 ms (5 phút)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587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GUARD — CHỈ CHẠY NẾU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05072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0507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VFLAG21 "in_shift" 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52544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SET_TAG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TAG ĐÍCH / GIÁ TRỊ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992624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9262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DO0 (đèn đỏ) =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8576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4707331" y="1698955"/>
            <a:ext cx="168249" cy="168249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2. Rule struct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23774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trigger_type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ON_FALL (2)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26609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trigger_tag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2660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1 (DI0)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29443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for_ms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29443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300000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32278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guard_tag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32278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21 (VFLAG0)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351129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action_type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511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SET_TAG (0)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576" y="37947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action_tag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3794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9 (DO0)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8576" y="407822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action_param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4078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9871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48471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ightning Bolt 48"/>
          <p:cNvSpPr/>
          <p:nvPr/>
        </p:nvSpPr>
        <p:spPr>
          <a:xfrm>
            <a:off x="8447227" y="1698955"/>
            <a:ext cx="168249" cy="168249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8471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3. Thực thi trên MCU</a:t>
            </a:r>
          </a:p>
        </p:txBody>
      </p:sp>
      <p:sp>
        <p:nvSpPr>
          <p:cNvPr id="51" name="Oval 50"/>
          <p:cNvSpPr/>
          <p:nvPr/>
        </p:nvSpPr>
        <p:spPr>
          <a:xfrm>
            <a:off x="8348471" y="2377440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14232" y="235915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input_scan() đọc DI0 mỗi 10ms, ghi vào Tag Value Store</a:t>
            </a:r>
          </a:p>
        </p:txBody>
      </p:sp>
      <p:sp>
        <p:nvSpPr>
          <p:cNvPr id="53" name="Oval 52"/>
          <p:cNvSpPr/>
          <p:nvPr/>
        </p:nvSpPr>
        <p:spPr>
          <a:xfrm>
            <a:off x="8348471" y="2962656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14232" y="2944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rule_scan() thấy DI0 vừa rơi 1→0, bắt đầu đếm condition_since_tick</a:t>
            </a:r>
          </a:p>
        </p:txBody>
      </p:sp>
      <p:sp>
        <p:nvSpPr>
          <p:cNvPr id="55" name="Oval 54"/>
          <p:cNvSpPr/>
          <p:nvPr/>
        </p:nvSpPr>
        <p:spPr>
          <a:xfrm>
            <a:off x="8348471" y="3547872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14232" y="352958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Sau đủ 300 000ms liên tục DI0=0, kiểm tra guard_tag=21: đọc VFLAG in_shift</a:t>
            </a:r>
          </a:p>
        </p:txBody>
      </p:sp>
      <p:sp>
        <p:nvSpPr>
          <p:cNvPr id="57" name="Oval 56"/>
          <p:cNvSpPr/>
          <p:nvPr/>
        </p:nvSpPr>
        <p:spPr>
          <a:xfrm>
            <a:off x="8348471" y="4133088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14232" y="41148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Nếu in_shift≠0: execute_action() ghi DO0=1 vào Tag Value Store</a:t>
            </a:r>
          </a:p>
        </p:txBody>
      </p:sp>
      <p:sp>
        <p:nvSpPr>
          <p:cNvPr id="59" name="Oval 58"/>
          <p:cNvSpPr/>
          <p:nvPr/>
        </p:nvSpPr>
        <p:spPr>
          <a:xfrm>
            <a:off x="8348471" y="4718304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4232" y="47000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output_scan() cuối vòng quét đẩy DO0=1 ra chân GPIO thật — đèn đỏ sáng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6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971032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3F17"/>
                </a:solidFill>
                <a:latin typeface="Calibri"/>
              </a:rPr>
              <a:t>Toàn bộ chuỗi này chỉ tốn 1 dòng trong Rule Table (28 byte) — không có code riêng viết tay cho rule này.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ghtning Bolt 3"/>
          <p:cNvSpPr/>
          <p:nvPr/>
        </p:nvSpPr>
        <p:spPr>
          <a:xfrm>
            <a:off x="775868" y="547268"/>
            <a:ext cx="231343" cy="231343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4747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A4A4A"/>
                </a:solidFill>
                <a:latin typeface="Cambria"/>
              </a:rPr>
              <a:t>Ví dụ 2 — Đếm sản lượng (có retain)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81381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B7474"/>
                </a:solidFill>
                <a:latin typeface="Calibri"/>
              </a:rPr>
              <a:t>Bài toán: 2 dây chuyền cần đếm riêng + tổng sản lượng — không được mất số liệu khi cúp điện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8"/>
          <p:cNvSpPr/>
          <p:nvPr/>
        </p:nvSpPr>
        <p:spPr>
          <a:xfrm>
            <a:off x="967435" y="1698955"/>
            <a:ext cx="168249" cy="168249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1. Giao diện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MẪU DỰNG SẴN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23744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2374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Đếm sản lượng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71216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TRIGGER — TAG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17520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DI2 — Cảm biến dây chuyền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64992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LOẠI TRIGGER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11296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11296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Sườn lên (ON_RISE)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587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BỘ ĐẾM RIÊNG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05072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0507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VREG_R0 — Counter1 (RETAIN)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52544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BỘ ĐẾM TỔNG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VREG_R2 — Total (RETAIN)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GHI CHÚ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992624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9262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Tự tạo 2 rule chung 1 trigger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8576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4707331" y="1698955"/>
            <a:ext cx="168249" cy="168249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2. Rule struct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23774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R1 trigger_type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ON_RISE (1)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26609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R1 trigger_tag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2660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3 (DI2)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29443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R1 action_type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29443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INC_COUNTER (2)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32278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R1 action_tag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32278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53 (VREG_R0)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351129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R2 action_tag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511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55 (VREG_R2, Total)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8576" y="379476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action_param (cả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3794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8576" y="407822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Tag kind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407822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TAG_VREG_RETAIN (8)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9871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48471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ightning Bolt 48"/>
          <p:cNvSpPr/>
          <p:nvPr/>
        </p:nvSpPr>
        <p:spPr>
          <a:xfrm>
            <a:off x="8447227" y="1698955"/>
            <a:ext cx="168249" cy="168249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48471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3. Thực thi trên MCU</a:t>
            </a:r>
          </a:p>
        </p:txBody>
      </p:sp>
      <p:sp>
        <p:nvSpPr>
          <p:cNvPr id="51" name="Oval 50"/>
          <p:cNvSpPr/>
          <p:nvPr/>
        </p:nvSpPr>
        <p:spPr>
          <a:xfrm>
            <a:off x="8348471" y="2377440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14232" y="235915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Mỗi xung DI2 lên: R1 → Counter1 += 1, R2 → Total += 1 (2 rule chung trigger)</a:t>
            </a:r>
          </a:p>
        </p:txBody>
      </p:sp>
      <p:sp>
        <p:nvSpPr>
          <p:cNvPr id="53" name="Oval 52"/>
          <p:cNvSpPr/>
          <p:nvPr/>
        </p:nvSpPr>
        <p:spPr>
          <a:xfrm>
            <a:off x="8348471" y="2962656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14232" y="2944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Giá trị sống nằm ở Tag Value Store (RAM) — cập nhật tức thời mỗi vòng quét</a:t>
            </a:r>
          </a:p>
        </p:txBody>
      </p:sp>
      <p:sp>
        <p:nvSpPr>
          <p:cNvPr id="55" name="Oval 54"/>
          <p:cNvSpPr/>
          <p:nvPr/>
        </p:nvSpPr>
        <p:spPr>
          <a:xfrm>
            <a:off x="8348471" y="3547872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14232" y="352958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Mỗi 5 phút: retain_service() gom mọi tag VREG_RETAIN, ghi 1 snapshot xuống Flash</a:t>
            </a:r>
          </a:p>
        </p:txBody>
      </p:sp>
      <p:sp>
        <p:nvSpPr>
          <p:cNvPr id="57" name="Oval 56"/>
          <p:cNvSpPr/>
          <p:nvPr/>
        </p:nvSpPr>
        <p:spPr>
          <a:xfrm>
            <a:off x="8348471" y="4133088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14232" y="41148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Nếu PVD phát hiện sụt áp: ghi khẩn cấp ngay, không chờ đủ 5 phút</a:t>
            </a:r>
          </a:p>
        </p:txBody>
      </p:sp>
      <p:sp>
        <p:nvSpPr>
          <p:cNvPr id="59" name="Oval 58"/>
          <p:cNvSpPr/>
          <p:nvPr/>
        </p:nvSpPr>
        <p:spPr>
          <a:xfrm>
            <a:off x="8348471" y="4718304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4232" y="47000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Mất điện → boot → retain_store_restore() nạp lại Counter1/Total từ bản ghi mới nhất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6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971032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3F17"/>
                </a:solidFill>
                <a:latin typeface="Calibri"/>
              </a:rPr>
              <a:t>Đây là lý do cần phân biệt VREG thường và VREG_RETAIN (mục 7, tài liệu docx) — không phải bộ đếm nào cũng cần sống sót qua mất điện.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ightning Bolt 3"/>
          <p:cNvSpPr/>
          <p:nvPr/>
        </p:nvSpPr>
        <p:spPr>
          <a:xfrm>
            <a:off x="775868" y="547268"/>
            <a:ext cx="231343" cy="231343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34747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0A4A4A"/>
                </a:solidFill>
                <a:latin typeface="Cambria"/>
              </a:rPr>
              <a:t>Ví dụ 3 — Gọi cấp liệu: đèn vàng, đèn đỏ, timer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81381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1">
                <a:solidFill>
                  <a:srgbClr val="5B7474"/>
                </a:solidFill>
                <a:latin typeface="Calibri"/>
              </a:rPr>
              <a:t>Bài toán: công nhân báo hết liệu bằng 1 nút — leo thang cảnh báo nếu chưa xử lý sau 10 giây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8"/>
          <p:cNvSpPr/>
          <p:nvPr/>
        </p:nvSpPr>
        <p:spPr>
          <a:xfrm>
            <a:off x="967435" y="1698955"/>
            <a:ext cx="168249" cy="168249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1. Giao diện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TRIGGER — TAG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523744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2374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DI1 — Nút gọi cấp liệu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71216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LOẠI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17520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1752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Sườn lên (ON_RISE)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64992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GUARD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511296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11296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DI0 = ON (máy đang chạy)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587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05072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00507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Đảo trạng thái (Toggle)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52544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7474"/>
                </a:solidFill>
                <a:latin typeface="Calibri"/>
              </a:rPr>
              <a:t>TAG ĐÍCH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98848"/>
            <a:ext cx="2971800" cy="256032"/>
          </a:xfrm>
          <a:prstGeom prst="roundRect">
            <a:avLst>
              <a:gd name="adj" fmla="val 15000"/>
            </a:avLst>
          </a:prstGeom>
          <a:solidFill>
            <a:srgbClr val="F5F6F7"/>
          </a:solidFill>
          <a:ln w="12700">
            <a:solidFill>
              <a:srgbClr val="DDD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>
                <a:solidFill>
                  <a:srgbClr val="1B2424"/>
                </a:solidFill>
                <a:latin typeface="Calibri"/>
              </a:rPr>
              <a:t>DO0 — Đèn vàng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2971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5B7474"/>
                </a:solidFill>
                <a:latin typeface="Calibri"/>
              </a:rPr>
              <a:t>(4 rule còn lại: xem deck UI, mục 4.5 docx)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0A4A4A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08576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xagon 28"/>
          <p:cNvSpPr/>
          <p:nvPr/>
        </p:nvSpPr>
        <p:spPr>
          <a:xfrm>
            <a:off x="4707331" y="1698955"/>
            <a:ext cx="168249" cy="168249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8576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2. Rule struct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23774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R1: ON_RISE DI1, guard=1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2377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TOGGLE_TAG DO0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266090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R2: INTERVAL 1000ms, guard=DO0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26609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INC_COUNTER T1 +=1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29443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R3: ON_CHANGE T1 &gt;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29443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SET_TAG DO1=1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32278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R4: ON_FALL DO0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322783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SET_TAG T1=0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351129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ED2D2"/>
                </a:solidFill>
                <a:latin typeface="Calibri"/>
              </a:rPr>
              <a:t>R5: ON_FALL DO0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3511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F8749"/>
                </a:solidFill>
                <a:latin typeface="Calibri"/>
              </a:rPr>
              <a:t>SET_TAG DO1=0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141732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48471" y="1600200"/>
            <a:ext cx="365760" cy="36576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ightning Bolt 42"/>
          <p:cNvSpPr/>
          <p:nvPr/>
        </p:nvSpPr>
        <p:spPr>
          <a:xfrm>
            <a:off x="8447227" y="1698955"/>
            <a:ext cx="168249" cy="168249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1" y="2002536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A4A4A"/>
                </a:solidFill>
                <a:latin typeface="Calibri"/>
              </a:rPr>
              <a:t>3. Thực thi trên MCU</a:t>
            </a:r>
          </a:p>
        </p:txBody>
      </p:sp>
      <p:sp>
        <p:nvSpPr>
          <p:cNvPr id="45" name="Oval 44"/>
          <p:cNvSpPr/>
          <p:nvPr/>
        </p:nvSpPr>
        <p:spPr>
          <a:xfrm>
            <a:off x="8348471" y="2377440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14232" y="235915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Bấm DI1, guard DI0=ON qua → TOGGLE_TAG đảo DO0 (R1)</a:t>
            </a:r>
          </a:p>
        </p:txBody>
      </p:sp>
      <p:sp>
        <p:nvSpPr>
          <p:cNvPr id="47" name="Oval 46"/>
          <p:cNvSpPr/>
          <p:nvPr/>
        </p:nvSpPr>
        <p:spPr>
          <a:xfrm>
            <a:off x="8348471" y="2962656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4232" y="2944368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DO0=1: mỗi giây R2 tự nổ (INTERVAL), guard đọc DO0≠0 → T1 += 1</a:t>
            </a:r>
          </a:p>
        </p:txBody>
      </p:sp>
      <p:sp>
        <p:nvSpPr>
          <p:cNvPr id="49" name="Oval 48"/>
          <p:cNvSpPr/>
          <p:nvPr/>
        </p:nvSpPr>
        <p:spPr>
          <a:xfrm>
            <a:off x="8348471" y="3547872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14232" y="352958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T1 vượt 10: R3 tự nổ theo dõi thẳng T1, bật đèn đỏ DO1</a:t>
            </a:r>
          </a:p>
        </p:txBody>
      </p:sp>
      <p:sp>
        <p:nvSpPr>
          <p:cNvPr id="51" name="Oval 50"/>
          <p:cNvSpPr/>
          <p:nvPr/>
        </p:nvSpPr>
        <p:spPr>
          <a:xfrm>
            <a:off x="8348471" y="4133088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14232" y="411480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Bấm DI1 lần nữa → DO0 toggle về 0 → R4, R5 tự nổ dọn T1 và DO1</a:t>
            </a:r>
          </a:p>
        </p:txBody>
      </p:sp>
      <p:sp>
        <p:nvSpPr>
          <p:cNvPr id="53" name="Oval 52"/>
          <p:cNvSpPr/>
          <p:nvPr/>
        </p:nvSpPr>
        <p:spPr>
          <a:xfrm>
            <a:off x="8348471" y="4718304"/>
            <a:ext cx="256032" cy="256032"/>
          </a:xfrm>
          <a:prstGeom prst="ellipse">
            <a:avLst/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E06B34"/>
                </a:solidFill>
                <a:latin typeface="Calibr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14232" y="47000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B2424"/>
                </a:solidFill>
                <a:latin typeface="Calibri"/>
              </a:rPr>
              <a:t>R4/R5 không cần biết TẠI SAO DO0 tắt — chỉ lắng nghe đúng sự kiện ON_FALL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870448"/>
            <a:ext cx="10908792" cy="457200"/>
          </a:xfrm>
          <a:prstGeom prst="roundRect">
            <a:avLst>
              <a:gd name="adj" fmla="val 6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71032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3F17"/>
                </a:solidFill>
                <a:latin typeface="Calibri"/>
              </a:rPr>
              <a:t>5 rule độc lập, mỗi rule 1 trigger — 1 action — ghép lại cho ra hành vi phức tạp, đúng mẫu đã dùng ở case study Andon.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0A4A4A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34747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Điểm chung của cả 3 ví dụ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3916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ision 6"/>
          <p:cNvSpPr/>
          <p:nvPr/>
        </p:nvSpPr>
        <p:spPr>
          <a:xfrm>
            <a:off x="1786737" y="2230221"/>
            <a:ext cx="294436" cy="294436"/>
          </a:xfrm>
          <a:prstGeom prst="flowChartDecisi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Không viết code riêng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Kỹ sư chỉ chọn dropdown — mọi hành vi đều nằm gọn trong 28 byte/rule.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7972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4520793" y="2230221"/>
            <a:ext cx="294436" cy="294436"/>
          </a:xfrm>
          <a:prstGeom prst="hexagon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Ghép rule đơn giản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Hành vi phức tạp = nhiều rule 1-điều-kiện chia sẻ trigger/tag, không phải 1 rule 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2028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ightning Bolt 16"/>
          <p:cNvSpPr/>
          <p:nvPr/>
        </p:nvSpPr>
        <p:spPr>
          <a:xfrm>
            <a:off x="7254849" y="2230221"/>
            <a:ext cx="294436" cy="294436"/>
          </a:xfrm>
          <a:prstGeom prst="lightningBolt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Cùng 1 vòng quét 10ms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Cả 3 ví dụ chạy trong cùng cơ chế scan-cycle (input_scan → rule_scan → output_scan) — không có đường xử lý đặc biệt riêng.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2248" y="1737360"/>
            <a:ext cx="2587752" cy="2926080"/>
          </a:xfrm>
          <a:prstGeom prst="roundRect">
            <a:avLst>
              <a:gd name="adj" fmla="val 6000"/>
            </a:avLst>
          </a:prstGeom>
          <a:solidFill>
            <a:srgbClr val="145C5C"/>
          </a:solidFill>
          <a:ln>
            <a:noFill/>
          </a:ln>
          <a:effectLst>
            <a:outerShdw blurRad="73152" dist="22860" dir="5400000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16084" y="2057400"/>
            <a:ext cx="640080" cy="640080"/>
          </a:xfrm>
          <a:prstGeom prst="ellipse">
            <a:avLst/>
          </a:prstGeom>
          <a:solidFill>
            <a:srgbClr val="FF8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ube 21"/>
          <p:cNvSpPr/>
          <p:nvPr/>
        </p:nvSpPr>
        <p:spPr>
          <a:xfrm>
            <a:off x="9988905" y="2230221"/>
            <a:ext cx="294436" cy="294436"/>
          </a:xfrm>
          <a:prstGeom prst="cube">
            <a:avLst/>
          </a:prstGeom>
          <a:solidFill>
            <a:srgbClr val="0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2944368"/>
            <a:ext cx="231343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Chọn lọc retain khi cần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3611879"/>
            <a:ext cx="22219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BED2D2"/>
                </a:solidFill>
                <a:latin typeface="Calibri"/>
              </a:rPr>
              <a:t>Chỉ VREG_RETAIN mới sống qua mất điện — timer/giá trị tạm vẫn dùng VREG thường.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FB8B8"/>
                </a:solidFill>
                <a:latin typeface="Calibri"/>
              </a:rPr>
              <a:t>Chi tiết đầy đủ (struct, byte layout, main loop): tài liệu SimplePLC_RuleStruct_MCU_Spec_v0.1.docx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747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