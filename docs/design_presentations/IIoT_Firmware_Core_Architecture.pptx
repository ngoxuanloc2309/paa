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594360"/>
            <a:ext cx="2377440" cy="2377440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95460" y="845820"/>
            <a:ext cx="1874519" cy="1874519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109728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FIRMWARE LÕI IIOT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8749"/>
                </a:solidFill>
                <a:latin typeface="Calibri"/>
              </a:rPr>
              <a:t>Nền tảng dùng chung cho STM32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84448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ED2D2"/>
                </a:solidFill>
                <a:latin typeface="Calibri"/>
              </a:rPr>
              <a:t>Remote I/O   ·   Datalogger   ·   IoT Gateway   ·   Bộ điều khiển chuyên dụng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E06B34"/>
                </a:solidFill>
                <a:latin typeface="Calibri"/>
              </a:rPr>
              <a:t>RULE-BASED   ·   MODBUS RTU-FIRST   ·   KHÔNG PHỤ THUỘC WIFI / ETHERNET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" y="310896"/>
            <a:ext cx="3035808" cy="990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sse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743200" cy="6977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0A4A4A"/>
                </a:solidFill>
                <a:latin typeface="Calibri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429768"/>
            <a:ext cx="9601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A4A4A"/>
                </a:solidFill>
                <a:latin typeface="Cambria"/>
              </a:rPr>
              <a:t>Vấn đề hiện tại &amp; Mục tiêu thiết kế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07492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1737360"/>
            <a:ext cx="502920" cy="502920"/>
          </a:xfrm>
          <a:prstGeom prst="ellipse">
            <a:avLst/>
          </a:prstGeom>
          <a:solidFill>
            <a:srgbClr val="E7D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0A4A4A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0A4A4A"/>
                </a:solidFill>
                <a:latin typeface="Calibri"/>
              </a:rPr>
              <a:t>Vấn đề hiện tại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468880"/>
            <a:ext cx="4434840" cy="3520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FF8749"/>
              </a:buClr>
              <a:buFont typeface="Arial"/>
              <a:buChar char="•"/>
            </a:pPr>
            <a:r>
              <a:rPr sz="1350">
                <a:solidFill>
                  <a:srgbClr val="1B2424"/>
                </a:solidFill>
                <a:latin typeface="Calibri"/>
              </a:rPr>
              <a:t>PLC truyền thống lập trình phức tạp (ladder/ST), cần phần mềm hãng riêng, setup rườm rà.</a:t>
            </a:r>
          </a:p>
          <a:p>
            <a:pPr marL="228600" indent="-228600">
              <a:spcAft>
                <a:spcPts val="1200"/>
              </a:spcAft>
              <a:buClr>
                <a:srgbClr val="FF8749"/>
              </a:buClr>
              <a:buFont typeface="Arial"/>
              <a:buChar char="•"/>
            </a:pPr>
            <a:r>
              <a:rPr sz="1350">
                <a:solidFill>
                  <a:srgbClr val="1B2424"/>
                </a:solidFill>
                <a:latin typeface="Calibri"/>
              </a:rPr>
              <a:t>Thiết bị càng nhỏ (remote I/O, datalogger) càng khó nhúng khả năng lập trình vì tài nguyên MCU hạn chế.</a:t>
            </a:r>
          </a:p>
          <a:p>
            <a:pPr marL="228600" indent="-228600">
              <a:spcAft>
                <a:spcPts val="1200"/>
              </a:spcAft>
              <a:buClr>
                <a:srgbClr val="FF8749"/>
              </a:buClr>
              <a:buFont typeface="Arial"/>
              <a:buChar char="•"/>
            </a:pPr>
            <a:r>
              <a:rPr sz="1350">
                <a:solidFill>
                  <a:srgbClr val="1B2424"/>
                </a:solidFill>
                <a:latin typeface="Calibri"/>
              </a:rPr>
              <a:t>Mỗi dòng sản phẩm hiện làm firmware riêng lẻ, trùng lặp công sức, khó bảo trì đồng bộ.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74920" cy="484632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737360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ullseye_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573" y="1842973"/>
            <a:ext cx="291693" cy="2916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23760" y="17373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Mục tiêu thiết kế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468880"/>
            <a:ext cx="4434840" cy="3520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FF8749"/>
              </a:buClr>
              <a:buFont typeface="Arial"/>
              <a:buChar char="•"/>
            </a:pPr>
            <a:r>
              <a:rPr sz="1350">
                <a:solidFill>
                  <a:srgbClr val="D2E0E0"/>
                </a:solidFill>
                <a:latin typeface="Calibri"/>
              </a:rPr>
              <a:t>Một Core Library dùng chung cho toàn bộ dòng sản phẩm.</a:t>
            </a:r>
          </a:p>
          <a:p>
            <a:pPr marL="228600" indent="-228600">
              <a:spcAft>
                <a:spcPts val="1200"/>
              </a:spcAft>
              <a:buClr>
                <a:srgbClr val="FF8749"/>
              </a:buClr>
              <a:buFont typeface="Arial"/>
              <a:buChar char="•"/>
            </a:pPr>
            <a:r>
              <a:rPr sz="1350">
                <a:solidFill>
                  <a:srgbClr val="D2E0E0"/>
                </a:solidFill>
                <a:latin typeface="Calibri"/>
              </a:rPr>
              <a:t>Bộ lệnh đơn giản, dưới 100 step, không đòi hỏi biết lập trình chuyên sâu.</a:t>
            </a:r>
          </a:p>
          <a:p>
            <a:pPr marL="228600" indent="-228600">
              <a:spcAft>
                <a:spcPts val="1200"/>
              </a:spcAft>
              <a:buClr>
                <a:srgbClr val="FF8749"/>
              </a:buClr>
              <a:buFont typeface="Arial"/>
              <a:buChar char="•"/>
            </a:pPr>
            <a:r>
              <a:rPr sz="1350">
                <a:solidFill>
                  <a:srgbClr val="D2E0E0"/>
                </a:solidFill>
                <a:latin typeface="Calibri"/>
              </a:rPr>
              <a:t>Chạy tốt trên STM32 phổ thông, chỉ cần RS485/Modbus RTU, không phụ thuộc WiFi/Ethernet.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ear_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" y="572414"/>
            <a:ext cx="318211" cy="318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19" y="429768"/>
            <a:ext cx="9601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A4A4A"/>
                </a:solidFill>
                <a:latin typeface="Cambria"/>
              </a:rPr>
              <a:t>4 nguyên tắc thiết kế lõi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73352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uzzle_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13" y="1778965"/>
            <a:ext cx="291693" cy="2916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1636776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0A4A4A"/>
                </a:solidFill>
                <a:latin typeface="Calibri"/>
              </a:rPr>
              <a:t>Tách lõi khỏi phần cứng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70916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7474"/>
                </a:solidFill>
                <a:latin typeface="Calibri"/>
              </a:rPr>
              <a:t>Core Engine không phụ thuộc chip cụ thể, chỉ giao tiếp qua lớp HAL mỏng, dễ port sang STM32 khác hoặc nền tảng khác sau này.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673352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ndgate_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573" y="1778965"/>
            <a:ext cx="291693" cy="2916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1636776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0A4A4A"/>
                </a:solidFill>
                <a:latin typeface="Calibri"/>
              </a:rPr>
              <a:t>Rule-based, không phải ngôn ngữ đầy đủ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31720"/>
            <a:ext cx="470916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7474"/>
                </a:solidFill>
                <a:latin typeface="Calibri"/>
              </a:rPr>
              <a:t>Trigger, Condition, Action, giới hạn rõ ràng, không Turing-complete, an toàn, dễ kiểm chứng, dễ học.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70832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ifi_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013" y="4476445"/>
            <a:ext cx="291693" cy="29169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00200" y="4334256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0A4A4A"/>
                </a:solidFill>
                <a:latin typeface="Calibri"/>
              </a:rPr>
              <a:t>Không phụ thuộc kết nối cao cấp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29200"/>
            <a:ext cx="470916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7474"/>
                </a:solidFill>
                <a:latin typeface="Calibri"/>
              </a:rPr>
              <a:t>Cấu hình và vận hành đầy đủ chỉ với UART/RS485/Modbus RTU; WiFi/Ethernet là lớp mở rộng tùy chọn.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1480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4370832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ackage_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573" y="4476445"/>
            <a:ext cx="291693" cy="29169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334256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 i="0">
                <a:solidFill>
                  <a:srgbClr val="0A4A4A"/>
                </a:solidFill>
                <a:latin typeface="Calibri"/>
              </a:rPr>
              <a:t>Không dùng heap động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029200"/>
            <a:ext cx="470916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7474"/>
                </a:solidFill>
                <a:latin typeface="Calibri"/>
              </a:rPr>
              <a:t>Rule lưu dạng bảng nhị phân cố định (fixed-size struct), tránh phân mảnh bộ nhớ, phù hợp MCU 8-32KB RAM.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Kiến trúc phân lớp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9FB8B8"/>
                </a:solidFill>
                <a:latin typeface="Calibri"/>
              </a:rPr>
              <a:t>1 lõi dùng chung, mỗi dòng sản phẩm chỉ là 1 Application Profile phía trên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61872"/>
            <a:ext cx="2603754" cy="749808"/>
          </a:xfrm>
          <a:prstGeom prst="roundRect">
            <a:avLst>
              <a:gd name="adj" fmla="val 9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261872"/>
            <a:ext cx="245745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Remote I/O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8426" y="1261872"/>
            <a:ext cx="2603754" cy="749808"/>
          </a:xfrm>
          <a:prstGeom prst="roundRect">
            <a:avLst>
              <a:gd name="adj" fmla="val 9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1578" y="1261872"/>
            <a:ext cx="245745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Datalogger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6772" y="1261872"/>
            <a:ext cx="2603754" cy="749808"/>
          </a:xfrm>
          <a:prstGeom prst="roundRect">
            <a:avLst>
              <a:gd name="adj" fmla="val 9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9924" y="1261872"/>
            <a:ext cx="245745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Gateway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5118" y="1261872"/>
            <a:ext cx="2603754" cy="749808"/>
          </a:xfrm>
          <a:prstGeom prst="roundRect">
            <a:avLst>
              <a:gd name="adj" fmla="val 9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18270" y="1261872"/>
            <a:ext cx="245745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Custom Controller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7"/>
            <a:ext cx="10908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60">
                <a:solidFill>
                  <a:srgbClr val="8B909A"/>
                </a:solidFill>
                <a:latin typeface="Calibri"/>
              </a:rPr>
              <a:t>APPLICATION PROFILE LAYER  (khác nhau giữa các dòng sản phẩm)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9424"/>
            <a:ext cx="10908792" cy="822959"/>
          </a:xfrm>
          <a:prstGeom prst="roundRect">
            <a:avLst>
              <a:gd name="adj" fmla="val 8000"/>
            </a:avLst>
          </a:prstGeom>
          <a:solidFill>
            <a:srgbClr val="FF8749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7" y="2414016"/>
            <a:ext cx="493775" cy="493775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ghtning_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40" y="2517708"/>
            <a:ext cx="286390" cy="2863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36192" y="2313432"/>
            <a:ext cx="9738359" cy="378561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600" b="1" i="0">
                <a:solidFill>
                  <a:srgbClr val="0A4A4A"/>
                </a:solidFill>
                <a:latin typeface="Calibri"/>
              </a:rPr>
              <a:t>Rule Engine  -  Trigger to Condition to Action Interpreter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660904"/>
            <a:ext cx="9738359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A4A4A"/>
                </a:solidFill>
                <a:latin typeface="Calibri"/>
              </a:rPr>
              <a:t>Bộ diễn giải rule event-driven, dưới 100 step, đọc bảng nhị phân trong 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7" y="3332073"/>
            <a:ext cx="395020" cy="3950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ylinder_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02" y="3415027"/>
            <a:ext cx="229112" cy="2291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37436" y="3264408"/>
            <a:ext cx="9837115" cy="30284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Config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7436" y="3529584"/>
            <a:ext cx="9837115" cy="289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Bảng rule nhị phân gọn (compact binary table) lưu trong Flash / EEPROM nội bộ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86784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7" y="4118457"/>
            <a:ext cx="395020" cy="3950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ifi_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02" y="4201411"/>
            <a:ext cx="229112" cy="2291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37436" y="4050792"/>
            <a:ext cx="9837115" cy="30284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Communication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7436" y="4315968"/>
            <a:ext cx="9837115" cy="289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Modbus RTU Slave/Master (mặc định), khe mở rộng: Modbus TCP / MQTT / Zigbee / LoRa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73168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7" y="4904841"/>
            <a:ext cx="395020" cy="3950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gear_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202" y="4987795"/>
            <a:ext cx="229112" cy="2291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37436" y="4837176"/>
            <a:ext cx="9837115" cy="30284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HAL - Hardware Abstraction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7436" y="5102352"/>
            <a:ext cx="9837115" cy="289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GPIO, ADC, UART/RS485 driver (STM32 HAL/LL), điểm port sang chip khác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559552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1C6E6E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7" y="5691225"/>
            <a:ext cx="395020" cy="3950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ube_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202" y="5774179"/>
            <a:ext cx="229112" cy="22911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37436" y="5623560"/>
            <a:ext cx="9837115" cy="30284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7436" y="5888736"/>
            <a:ext cx="9837115" cy="289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STM32 MCU + DI / DO / AI + RS485 transceiver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ghtning_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" y="572414"/>
            <a:ext cx="318211" cy="318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19" y="429768"/>
            <a:ext cx="9601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A4A4A"/>
                </a:solidFill>
                <a:latin typeface="Cambria"/>
              </a:rPr>
              <a:t>Rule Engine: Trigger, Condition,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88819" y="1572768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ghtning_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034" y="1687982"/>
            <a:ext cx="318211" cy="318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19456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100">
                <a:solidFill>
                  <a:srgbClr val="0A4A4A"/>
                </a:solidFill>
                <a:latin typeface="Calibri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474"/>
                </a:solidFill>
                <a:latin typeface="Calibri"/>
              </a:rPr>
              <a:t>Tag DI/AI/Modbus register đổi giá trị, hoặc theo thời gian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41063" y="1952243"/>
            <a:ext cx="365760" cy="256032"/>
          </a:xfrm>
          <a:prstGeom prst="rightArrow">
            <a:avLst/>
          </a:prstGeom>
          <a:solidFill>
            <a:srgbClr val="5B7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37859" y="1572768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ale_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1687982"/>
            <a:ext cx="318211" cy="3182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89120" y="219456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100">
                <a:solidFill>
                  <a:srgbClr val="0A4A4A"/>
                </a:solidFill>
                <a:latin typeface="Calibri"/>
              </a:rPr>
              <a:t>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6888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474"/>
                </a:solidFill>
                <a:latin typeface="Calibri"/>
              </a:rPr>
              <a:t>So sánh ngưỡng, khung giờ ca sản xuất (tùy chọn)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90104" y="1952243"/>
            <a:ext cx="365760" cy="256032"/>
          </a:xfrm>
          <a:prstGeom prst="rightArrow">
            <a:avLst/>
          </a:prstGeom>
          <a:solidFill>
            <a:srgbClr val="5B7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59" y="137160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86899" y="1572768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lay_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2114" y="1687982"/>
            <a:ext cx="318211" cy="3182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8159" y="219456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100">
                <a:solidFill>
                  <a:srgbClr val="0A4A4A"/>
                </a:solidFill>
                <a:latin typeface="Calibri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46888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474"/>
                </a:solidFill>
                <a:latin typeface="Calibri"/>
              </a:rPr>
              <a:t>Set DO, ghi Modbus, gửi cảnh báo, log giá trị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46120"/>
            <a:ext cx="10744199" cy="160020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20439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ylinder_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013" y="3626053"/>
            <a:ext cx="291693" cy="29169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00200" y="3465576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Lưu trữ trên thiết bị: bảng nhị phân cố định, không JSON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95928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D2E0E0"/>
                </a:solidFill>
                <a:latin typeface="Calibri"/>
              </a:rPr>
              <a:t>Không cấp phát bộ nhớ động, không heap — dễ dò lỗi vì mỗi rule có kích thước cố định. Chi tiết cấu trúc dữ liệu, bộ lệnh và cách vận hành: xem tài liệu thiết kế firmware riêng.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ndgate_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" y="572414"/>
            <a:ext cx="318211" cy="318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19" y="429768"/>
            <a:ext cx="9601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A4A4A"/>
                </a:solidFill>
                <a:latin typeface="Cambria"/>
              </a:rPr>
              <a:t>Bộ lệnh tối thiểu (block set)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5877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1348" y="1719072"/>
            <a:ext cx="585216" cy="585216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ydown_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243" y="1841967"/>
            <a:ext cx="339425" cy="339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2432304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98064"/>
            <a:ext cx="23134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Đọc DI / AI / Modbus register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463040"/>
            <a:ext cx="25877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75404" y="1719072"/>
            <a:ext cx="585216" cy="585216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ale_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299" y="1841967"/>
            <a:ext cx="339425" cy="3394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83864" y="2432304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798064"/>
            <a:ext cx="23134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So sánh ngưỡng &gt;, &lt;, =, between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1463040"/>
            <a:ext cx="25877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09460" y="1719072"/>
            <a:ext cx="585216" cy="585216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lock_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355" y="1841967"/>
            <a:ext cx="339425" cy="339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0" y="2432304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Timer/Debounce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798064"/>
            <a:ext cx="23134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Giữ trạng thái đủ lâu mới trigger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42248" y="1463040"/>
            <a:ext cx="25877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43516" y="1719072"/>
            <a:ext cx="585216" cy="585216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hash_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411" y="1841967"/>
            <a:ext cx="339425" cy="3394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51976" y="2432304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Counter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2798064"/>
            <a:ext cx="23134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Đếm xung, tính sản lượng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86200"/>
            <a:ext cx="25877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41348" y="4142232"/>
            <a:ext cx="585216" cy="585216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vert_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4243" y="4265127"/>
            <a:ext cx="339425" cy="3394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8" y="4855464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Math/Scale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21224"/>
            <a:ext cx="23134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Quy đổi đơn vị, scale 4-20mA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74136" y="3886200"/>
            <a:ext cx="25877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75404" y="4142232"/>
            <a:ext cx="585216" cy="585216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ndgate_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299" y="4265127"/>
            <a:ext cx="339425" cy="3394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483864" y="4855464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1296" y="5221224"/>
            <a:ext cx="23134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AND / OR / NOT cơ bản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8192" y="3886200"/>
            <a:ext cx="25877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09460" y="4142232"/>
            <a:ext cx="585216" cy="585216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trayup_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2355" y="4265127"/>
            <a:ext cx="339425" cy="3394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217920" y="4855464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5221224"/>
            <a:ext cx="23134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Set DO, ghi giá trị, ghi log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42248" y="3886200"/>
            <a:ext cx="25877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43516" y="4142232"/>
            <a:ext cx="585216" cy="585216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idir_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411" y="4265127"/>
            <a:ext cx="339425" cy="33942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951976" y="4855464"/>
            <a:ext cx="23682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4A4A"/>
                </a:solidFill>
                <a:latin typeface="Calibri"/>
              </a:rPr>
              <a:t>Modbus R/W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79408" y="5221224"/>
            <a:ext cx="231343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7474"/>
                </a:solidFill>
                <a:latin typeface="Calibri"/>
              </a:rPr>
              <a:t>Đọc/ghi register thiết bị khác trên bus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B7474"/>
                </a:solidFill>
                <a:latin typeface="Calibri"/>
              </a:rPr>
              <a:t>Tổng không quá 100 step cho 1 thiết bị, đủ cho thu thập dữ liệu, Andon, giám sát máy, tính sản lượng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yup_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" y="572414"/>
            <a:ext cx="318211" cy="318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19" y="429768"/>
            <a:ext cx="9601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A4A4A"/>
                </a:solidFill>
                <a:latin typeface="Cambria"/>
              </a:rPr>
              <a:t>Cấu hình khi chưa có WiFi / Ethernet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087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64592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0A4A4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150876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4A4A"/>
                </a:solidFill>
                <a:latin typeface="Calibri"/>
              </a:rPr>
              <a:t>PC Tool (Windows)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490472"/>
            <a:ext cx="63093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B7474"/>
                </a:solidFill>
                <a:latin typeface="Calibri"/>
              </a:rPr>
              <a:t>Thiết kế rule bằng giao diện kéo-thả trên máy tính, giống các slide trước (Trigger/Condition/Action).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87752"/>
            <a:ext cx="109087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2816352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0A4A4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39" y="2679192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4A4A"/>
                </a:solidFill>
                <a:latin typeface="Calibri"/>
              </a:rPr>
              <a:t>Nạp in-band qua chính Modbus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660904"/>
            <a:ext cx="63093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B7474"/>
                </a:solidFill>
                <a:latin typeface="Calibri"/>
              </a:rPr>
              <a:t>Tool đóng gói rule thành bảng nhị phân, ghi xuống thiết bị qua UART-USB hoặc trực tiếp qua RS485 (Modbus function code ghi vùng register cấu hình), không cần cổng lập trình riêng.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58184"/>
            <a:ext cx="109087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986784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0A4A4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3849624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4A4A"/>
                </a:solidFill>
                <a:latin typeface="Calibri"/>
              </a:rPr>
              <a:t>Thiết bị áp dụng ngay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831336"/>
            <a:ext cx="63093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B7474"/>
                </a:solidFill>
                <a:latin typeface="Calibri"/>
              </a:rPr>
              <a:t>Rule Engine nạp bảng mới vào vùng Flash dự trữ, atomic-swap, không cần dừng hẳn thiết bị để cập nhật.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28616"/>
            <a:ext cx="10908792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5157216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0A4A4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39" y="5020055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4A4A"/>
                </a:solidFill>
                <a:latin typeface="Calibri"/>
              </a:rPr>
              <a:t>Thêm kết nối sau, core không đổi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5001768"/>
            <a:ext cx="63093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B7474"/>
                </a:solidFill>
                <a:latin typeface="Calibri"/>
              </a:rPr>
              <a:t>Khi ra bản có WiFi/Ethernet, chỉ cắm thêm Connectivity Module vào Communication Stack, Rule Engine/Config Store/HAL giữ nguyên.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Lộ trình mở rộng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9FB8B8"/>
                </a:solidFill>
                <a:latin typeface="Calibri"/>
              </a:rPr>
              <a:t>Cùng 1 Core Engine + Rule Format, chỉ khác HAL và Application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423160" cy="3291840"/>
          </a:xfrm>
          <a:prstGeom prst="roundRect">
            <a:avLst>
              <a:gd name="adj" fmla="val 6000"/>
            </a:avLst>
          </a:prstGeom>
          <a:solidFill>
            <a:srgbClr val="FF8749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68779" y="2148840"/>
            <a:ext cx="640080" cy="640080"/>
          </a:xfrm>
          <a:prstGeom prst="ellipse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be_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96" y="2283256"/>
            <a:ext cx="371246" cy="3712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9568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4A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0A4A4A"/>
                </a:solidFill>
                <a:latin typeface="Calibri"/>
              </a:rPr>
              <a:t>Remote I/O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3A3D22"/>
                </a:solidFill>
                <a:latin typeface="Calibri"/>
              </a:rPr>
              <a:t>Core lõi, chỉ RS485/Modbus RTU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18688" y="3355848"/>
            <a:ext cx="283464" cy="23774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0440" y="1828800"/>
            <a:ext cx="2423160" cy="329184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11980" y="214884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ylinder_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396" y="2283256"/>
            <a:ext cx="371246" cy="37124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19568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AA0A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175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Datalogger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7033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ED2D2"/>
                </a:solidFill>
                <a:latin typeface="Calibri"/>
              </a:rPr>
              <a:t>+ Bộ nhớ log mở rộng, RTC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61888" y="3355848"/>
            <a:ext cx="283464" cy="23774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828800"/>
            <a:ext cx="2423160" cy="329184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55179" y="214884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ifi_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596" y="2283256"/>
            <a:ext cx="371246" cy="37124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19568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AA0A8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IoT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ED2D2"/>
                </a:solidFill>
                <a:latin typeface="Calibri"/>
              </a:rPr>
              <a:t>+ WiFi/Ethernet/Zigbee, dịch giao thức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05088" y="3355848"/>
            <a:ext cx="283464" cy="23774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06840" y="1828800"/>
            <a:ext cx="2423160" cy="329184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98380" y="214884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knobs_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796" y="2283256"/>
            <a:ext cx="371246" cy="37124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44000" y="19568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AA0A8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0175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Bộ điều khiển chuyên dụng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3703320"/>
            <a:ext cx="2057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ED2D2"/>
                </a:solidFill>
                <a:latin typeface="Calibri"/>
              </a:rPr>
              <a:t>+ I/O đặc thù, thêm block Math/PID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9FB8B8"/>
                </a:solidFill>
                <a:latin typeface="Calibri"/>
              </a:rPr>
              <a:t>MCU: STM32H523CCU6 xác nhận cho bản Remote I/O — các dòng khác đánh giá MCU riêng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0A4A4A"/>
                </a:solidFill>
                <a:latin typeface="Calibri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19" y="429768"/>
            <a:ext cx="96012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A4A4A"/>
                </a:solidFill>
                <a:latin typeface="Cambria"/>
              </a:rPr>
              <a:t>Lợi ích của kiến trúc dùng chung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3916" y="1874519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be_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332" y="2008936"/>
            <a:ext cx="371246" cy="3712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76148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4A4A"/>
                </a:solidFill>
                <a:latin typeface="Calibri"/>
              </a:rPr>
              <a:t>Dùng chung 1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29000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B7474"/>
                </a:solidFill>
                <a:latin typeface="Calibri"/>
              </a:rPr>
              <a:t>Giảm effort phát triển, bảo trì đồng bộ trên mọi dòng sản phẩm.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55448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7972" y="1874519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tack_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88" y="2008936"/>
            <a:ext cx="371246" cy="3712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11296" y="276148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4A4A"/>
                </a:solidFill>
                <a:latin typeface="Calibri"/>
              </a:rPr>
              <a:t>Học 1 lần, dùng nhiều thiết bị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3429000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B7474"/>
                </a:solidFill>
                <a:latin typeface="Calibri"/>
              </a:rPr>
              <a:t>SI/khách hàng chỉ học 1 bộ lệnh cho cả Remote I/O, Datalogger, Gateway.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55448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2028" y="1874519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rowth_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444" y="2008936"/>
            <a:ext cx="371246" cy="37124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45352" y="276148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4A4A"/>
                </a:solidFill>
                <a:latin typeface="Calibri"/>
              </a:rPr>
              <a:t>Dễ mở rộng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429000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B7474"/>
                </a:solidFill>
                <a:latin typeface="Calibri"/>
              </a:rPr>
              <a:t>Thêm kết nối/tính năng mới không phải viết lại từ đầu, chỉ thêm lớp.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42248" y="155448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16084" y="1874519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hield_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0500" y="2008936"/>
            <a:ext cx="371246" cy="37124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79408" y="276148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4A4A"/>
                </a:solidFill>
                <a:latin typeface="Calibri"/>
              </a:rPr>
              <a:t>An toàn, dễ kiểm chứng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3429000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B7474"/>
                </a:solidFill>
                <a:latin typeface="Calibri"/>
              </a:rPr>
              <a:t>Rule-based giới hạn rõ, không heap động, ổn định trên MCU nhỏ.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0A4A4A"/>
                </a:solidFill>
                <a:latin typeface="Calibri"/>
              </a:rPr>
              <a:t>Đã chốt: struct Rule và MCU (STM32H523CCU6) cho bản Remote I/O đầu tiên. Bước tiếp theo: review thiết kế cùng đội kỹ thuật và bắt đầu triển khai firmware.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