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594360"/>
            <a:ext cx="2377440" cy="2377440"/>
          </a:xfrm>
          <a:prstGeom prst="roundRect">
            <a:avLst>
              <a:gd name="adj" fmla="val 18000"/>
            </a:avLst>
          </a:prstGeom>
          <a:solidFill>
            <a:srgbClr val="FF874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95460" y="845820"/>
            <a:ext cx="1874519" cy="1874519"/>
          </a:xfrm>
          <a:prstGeom prst="roundRect">
            <a:avLst>
              <a:gd name="adj" fmla="val 18000"/>
            </a:avLst>
          </a:prstGeom>
          <a:solidFill>
            <a:srgbClr val="FF874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109728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FF874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THIẾT KẾ FIRMWARE STM32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8749"/>
                </a:solidFill>
                <a:latin typeface="Calibri"/>
              </a:rPr>
              <a:t>Rule Engine cho SimplePLC — trình bày kỹ thuật cho đội phát triển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E06B34"/>
                </a:solidFill>
                <a:latin typeface="Calibri"/>
              </a:rPr>
              <a:t>STM32H523CCU6  ·  CORTEX-M33  ·  RULE-BASED  ·  MODBUS RTU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5" y="310896"/>
            <a:ext cx="3035808" cy="9903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sse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743200" cy="697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ube 3"/>
          <p:cNvSpPr/>
          <p:nvPr/>
        </p:nvSpPr>
        <p:spPr>
          <a:xfrm>
            <a:off x="788212" y="605332"/>
            <a:ext cx="252374" cy="252374"/>
          </a:xfrm>
          <a:prstGeom prst="cube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374904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0A4A4A"/>
                </a:solidFill>
                <a:latin typeface="Cambria"/>
              </a:rPr>
              <a:t>MCU mục tiêu &amp; ngân sách tài nguyên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4114800" cy="4846320"/>
          </a:xfrm>
          <a:prstGeom prst="roundRect">
            <a:avLst>
              <a:gd name="adj" fmla="val 6000"/>
            </a:avLst>
          </a:prstGeom>
          <a:solidFill>
            <a:srgbClr val="0A4A4A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6916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8749"/>
                </a:solidFill>
                <a:latin typeface="Calibri"/>
              </a:rPr>
              <a:t>STM32H523CCU6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2860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8B8"/>
                </a:solidFill>
                <a:latin typeface="Calibri"/>
              </a:rPr>
              <a:t>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860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Cortex-M33 + FPU/DSP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27889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8B8"/>
                </a:solidFill>
                <a:latin typeface="Calibri"/>
              </a:rPr>
              <a:t>Xung nhịp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889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250 MHz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3291839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8B8"/>
                </a:solidFill>
                <a:latin typeface="Calibri"/>
              </a:rPr>
              <a:t>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91839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256 KB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3794759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8B8"/>
                </a:solidFill>
                <a:latin typeface="Calibri"/>
              </a:rPr>
              <a:t>SRAM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794759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272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297679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FB8B8"/>
                </a:solidFill>
                <a:latin typeface="Calibri"/>
              </a:rPr>
              <a:t>Gói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297679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UFQFPN48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4937759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ED2D2"/>
                </a:solidFill>
                <a:latin typeface="Calibri"/>
              </a:rPr>
              <a:t>Cùng lõi này dùng chung cho các dòng sản phẩm sau (Datalogger, Gateway...) — chỉ khác Application Profile.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417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4A4A"/>
                </a:solidFill>
                <a:latin typeface="Calibri"/>
              </a:rPr>
              <a:t>SRAM dùng cho Rule Engine (272 KB)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011680"/>
            <a:ext cx="6400800" cy="502920"/>
          </a:xfrm>
          <a:prstGeom prst="roundRect">
            <a:avLst>
              <a:gd name="adj" fmla="val 50000"/>
            </a:avLst>
          </a:prstGeom>
          <a:solidFill>
            <a:srgbClr val="E4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20640" y="2011680"/>
            <a:ext cx="1383702" cy="502920"/>
          </a:xfrm>
          <a:prstGeom prst="roundRect">
            <a:avLst>
              <a:gd name="adj" fmla="val 50000"/>
            </a:avLst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624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B7474"/>
                </a:solidFill>
                <a:latin typeface="Calibri"/>
              </a:rPr>
              <a:t>(đoạn màu vàng phóng to để nhìn rõ — tỉ lệ thật ở dưới)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017520"/>
            <a:ext cx="204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E06B34"/>
                </a:solidFill>
                <a:latin typeface="Calibri"/>
              </a:rPr>
              <a:t>~14 KB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584448"/>
            <a:ext cx="204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474"/>
                </a:solidFill>
                <a:latin typeface="Calibri"/>
              </a:rPr>
              <a:t>Rule Engine dùng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4240" y="3017520"/>
            <a:ext cx="204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A4A4A"/>
                </a:solidFill>
                <a:latin typeface="Calibri"/>
              </a:rPr>
              <a:t>~5.1%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4240" y="3584448"/>
            <a:ext cx="204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474"/>
                </a:solidFill>
                <a:latin typeface="Calibri"/>
              </a:rPr>
              <a:t>của tổng SRAM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7840" y="3017520"/>
            <a:ext cx="204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4E8A5E"/>
                </a:solidFill>
                <a:latin typeface="Calibri"/>
              </a:rPr>
              <a:t>~95%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7840" y="3584448"/>
            <a:ext cx="204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474"/>
                </a:solidFill>
                <a:latin typeface="Calibri"/>
              </a:rPr>
              <a:t>còn trống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4206240"/>
            <a:ext cx="64008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59" y="438912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4"/>
                </a:solidFill>
                <a:latin typeface="Calibri"/>
              </a:rPr>
              <a:t>Rule table (100 × 28 byte)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4389120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A4A4A"/>
                </a:solidFill>
                <a:latin typeface="Calibri"/>
              </a:rPr>
              <a:t>2.8 KB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59" y="472744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4"/>
                </a:solidFill>
                <a:latin typeface="Calibri"/>
              </a:rPr>
              <a:t>Tag table + Value Store (128 tag)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472744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A4A4A"/>
                </a:solidFill>
                <a:latin typeface="Calibri"/>
              </a:rPr>
              <a:t>1.0 KB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59" y="5065776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4"/>
                </a:solidFill>
                <a:latin typeface="Calibri"/>
              </a:rPr>
              <a:t>Rule runtime state (100 × 12 byte)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506577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A4A4A"/>
                </a:solidFill>
                <a:latin typeface="Calibri"/>
              </a:rPr>
              <a:t>1.2 KB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59" y="540410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4"/>
                </a:solidFill>
                <a:latin typeface="Calibri"/>
              </a:rPr>
              <a:t>Buffer Modbus RTU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540410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A4A4A"/>
                </a:solidFill>
                <a:latin typeface="Calibri"/>
              </a:rPr>
              <a:t>~1 KB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59" y="5742432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B2424"/>
                </a:solidFill>
                <a:latin typeface="Calibri"/>
              </a:rPr>
              <a:t>Stack + HAL + hệ thống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5742432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0A4A4A"/>
                </a:solidFill>
                <a:latin typeface="Calibri"/>
              </a:rPr>
              <a:t>~8 KB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788212" y="605332"/>
            <a:ext cx="252374" cy="252374"/>
          </a:xfrm>
          <a:prstGeom prst="hexag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374904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0A4A4A"/>
                </a:solidFill>
                <a:latin typeface="Cambria"/>
              </a:rPr>
              <a:t>Tag Table: 1 lớp gián tiếp duy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877824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B7474"/>
                </a:solidFill>
                <a:latin typeface="Calibri"/>
              </a:rPr>
              <a:t>Rule không bao giờ nói chuyện trực tiếp với GPIO hay Modbus — chỉ qua 1 chỉ số (index)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55448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0A4A4A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190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8749"/>
                </a:solidFill>
                <a:latin typeface="Calibri"/>
              </a:rPr>
              <a:t>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057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ED2D2"/>
                </a:solidFill>
                <a:latin typeface="Calibri"/>
              </a:rPr>
              <a:t>trigger_tag · guard_tag · action_tag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52744" y="2633472"/>
            <a:ext cx="256032" cy="310896"/>
          </a:xfrm>
          <a:prstGeom prst="downArrow">
            <a:avLst/>
          </a:prstGeom>
          <a:solidFill>
            <a:srgbClr val="5B7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3017520"/>
            <a:ext cx="3108960" cy="777240"/>
          </a:xfrm>
          <a:prstGeom prst="roundRect">
            <a:avLst>
              <a:gd name="adj" fmla="val 6000"/>
            </a:avLst>
          </a:prstGeom>
          <a:solidFill>
            <a:srgbClr val="FF8749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1455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A4A4A"/>
                </a:solidFill>
                <a:latin typeface="Calibri"/>
              </a:rPr>
              <a:t>TAG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4381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0A4A4A"/>
                </a:solidFill>
                <a:latin typeface="Calibri"/>
              </a:rPr>
              <a:t>chỉ số → {kind, channel/địa chỉ}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79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498847"/>
            <a:ext cx="457200" cy="457200"/>
          </a:xfrm>
          <a:prstGeom prst="ellipse">
            <a:avLst/>
          </a:prstGeom>
          <a:solidFill>
            <a:srgbClr val="14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992124" y="4622291"/>
            <a:ext cx="210312" cy="210312"/>
          </a:xfrm>
          <a:prstGeom prst="rightArrow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4805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A4A4A"/>
                </a:solidFill>
                <a:latin typeface="Calibri"/>
              </a:rPr>
              <a:t>DI / DO / AI vật lý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7491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7474"/>
                </a:solidFill>
                <a:latin typeface="Calibri"/>
              </a:rPr>
              <a:t>Chân GPIO/ADC thật trên board — bản Remote I/O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331720" y="3794759"/>
            <a:ext cx="3749040" cy="502920"/>
          </a:xfrm>
          <a:prstGeom prst="line">
            <a:avLst/>
          </a:prstGeom>
          <a:ln w="15875">
            <a:solidFill>
              <a:srgbClr val="9F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06240" y="4297679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34840" y="4498847"/>
            <a:ext cx="457200" cy="457200"/>
          </a:xfrm>
          <a:prstGeom prst="ellipse">
            <a:avLst/>
          </a:prstGeom>
          <a:solidFill>
            <a:srgbClr val="14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ightning Bolt 21"/>
          <p:cNvSpPr/>
          <p:nvPr/>
        </p:nvSpPr>
        <p:spPr>
          <a:xfrm>
            <a:off x="4558284" y="4622291"/>
            <a:ext cx="210312" cy="210312"/>
          </a:xfrm>
          <a:prstGeom prst="lightningBolt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44805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A4A4A"/>
                </a:solidFill>
                <a:latin typeface="Calibri"/>
              </a:rPr>
              <a:t>Virtual flag / register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07491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7474"/>
                </a:solidFill>
                <a:latin typeface="Calibri"/>
              </a:rPr>
              <a:t>RAM thuần — relay, timer. Loại RETAIN có sao lưu Flash (mục 8)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897880" y="3794759"/>
            <a:ext cx="182880" cy="502920"/>
          </a:xfrm>
          <a:prstGeom prst="line">
            <a:avLst/>
          </a:prstGeom>
          <a:ln w="15875">
            <a:solidFill>
              <a:srgbClr val="9F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0" y="4297679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01000" y="4498847"/>
            <a:ext cx="457200" cy="457200"/>
          </a:xfrm>
          <a:prstGeom prst="ellipse">
            <a:avLst/>
          </a:prstGeom>
          <a:solidFill>
            <a:srgbClr val="14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8124444" y="4622291"/>
            <a:ext cx="210312" cy="210312"/>
          </a:xfrm>
          <a:prstGeom prst="hexagon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44805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A4A4A"/>
                </a:solidFill>
                <a:latin typeface="Calibri"/>
              </a:rPr>
              <a:t>Modbus thiết bị khác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507491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B7474"/>
                </a:solidFill>
                <a:latin typeface="Calibri"/>
              </a:rPr>
              <a:t>Chưa dùng ở Remote I/O — sẵn chỗ cho bản Gateway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3794759"/>
            <a:ext cx="3383280" cy="502920"/>
          </a:xfrm>
          <a:prstGeom prst="line">
            <a:avLst/>
          </a:prstGeom>
          <a:ln w="15875">
            <a:solidFill>
              <a:srgbClr val="9F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ghtning Bolt 3"/>
          <p:cNvSpPr/>
          <p:nvPr/>
        </p:nvSpPr>
        <p:spPr>
          <a:xfrm>
            <a:off x="788212" y="605332"/>
            <a:ext cx="252374" cy="252374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374904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0A4A4A"/>
                </a:solidFill>
                <a:latin typeface="Cambria"/>
              </a:rPr>
              <a:t>1 Rule = Trigger + Guard (tuỳ chọn) +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25146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4228" y="1737360"/>
            <a:ext cx="512064" cy="512064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ightning Bolt 7"/>
          <p:cNvSpPr/>
          <p:nvPr/>
        </p:nvSpPr>
        <p:spPr>
          <a:xfrm>
            <a:off x="1962485" y="1875617"/>
            <a:ext cx="235549" cy="235549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50">
                <a:solidFill>
                  <a:srgbClr val="0A4A4A"/>
                </a:solidFill>
                <a:latin typeface="Calibri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33472"/>
            <a:ext cx="22402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7474"/>
                </a:solidFill>
                <a:latin typeface="Calibri"/>
              </a:rPr>
              <a:t>Tag đổi giá trị, hoặc theo thời gian / định kỳ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83279" y="2386584"/>
            <a:ext cx="365760" cy="256032"/>
          </a:xfrm>
          <a:prstGeom prst="rightArrow">
            <a:avLst/>
          </a:prstGeom>
          <a:solidFill>
            <a:srgbClr val="5B7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94760" y="1554480"/>
            <a:ext cx="2514600" cy="1920240"/>
          </a:xfrm>
          <a:prstGeom prst="roundRect">
            <a:avLst>
              <a:gd name="adj" fmla="val 6000"/>
            </a:avLst>
          </a:prstGeom>
          <a:solidFill>
            <a:srgbClr val="FFF0E6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96028" y="1737360"/>
            <a:ext cx="512064" cy="512064"/>
          </a:xfrm>
          <a:prstGeom prst="ellipse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cision 13"/>
          <p:cNvSpPr/>
          <p:nvPr/>
        </p:nvSpPr>
        <p:spPr>
          <a:xfrm>
            <a:off x="4934285" y="1875617"/>
            <a:ext cx="235549" cy="235549"/>
          </a:xfrm>
          <a:prstGeom prst="flowChartDecision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233172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50">
                <a:solidFill>
                  <a:srgbClr val="0A4A4A"/>
                </a:solidFill>
                <a:latin typeface="Calibri"/>
              </a:rPr>
              <a:t>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633472"/>
            <a:ext cx="22402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7474"/>
                </a:solidFill>
                <a:latin typeface="Calibri"/>
              </a:rPr>
              <a:t>Cổng phụ, tuỳ chọn — chỉ chạy nếu 1 tag khác đúng điều kiện (kèm đảo dấu NOT)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55080" y="2386584"/>
            <a:ext cx="365760" cy="256032"/>
          </a:xfrm>
          <a:prstGeom prst="rightArrow">
            <a:avLst/>
          </a:prstGeom>
          <a:solidFill>
            <a:srgbClr val="5B7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1554480"/>
            <a:ext cx="25146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67828" y="1737360"/>
            <a:ext cx="512064" cy="512064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906085" y="1875617"/>
            <a:ext cx="235549" cy="235549"/>
          </a:xfrm>
          <a:prstGeom prst="rightArrow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33172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 spc="50">
                <a:solidFill>
                  <a:srgbClr val="0A4A4A"/>
                </a:solidFill>
                <a:latin typeface="Calibri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633472"/>
            <a:ext cx="22402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B7474"/>
                </a:solidFill>
                <a:latin typeface="Calibri"/>
              </a:rPr>
              <a:t>Set/Toggle tag, cộng dồn, quy đổi tuyến tính, ghi Modbus, cảnh báo...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931920"/>
            <a:ext cx="8458200" cy="1371600"/>
          </a:xfrm>
          <a:prstGeom prst="roundRect">
            <a:avLst>
              <a:gd name="adj" fmla="val 6000"/>
            </a:avLst>
          </a:prstGeom>
          <a:solidFill>
            <a:srgbClr val="0A4A4A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096511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8749"/>
                </a:solidFill>
                <a:latin typeface="Calibri"/>
              </a:rPr>
              <a:t>Ví dụ thật — Andon: máy dừng quá 5 phút TRONG CA sản xuất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526280"/>
            <a:ext cx="2453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FB8B8"/>
                </a:solidFill>
                <a:latin typeface="Calibri"/>
              </a:rPr>
              <a:t>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00600"/>
            <a:ext cx="2453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DI0 dừng, giữ liên tục 300 000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3799" y="4526280"/>
            <a:ext cx="2453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FB8B8"/>
                </a:solidFill>
                <a:latin typeface="Calibri"/>
              </a:rPr>
              <a:t>GUARD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3799" y="4800600"/>
            <a:ext cx="2453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VFLAG "in_shift" phải =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320" y="4526280"/>
            <a:ext cx="2453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9FB8B8"/>
                </a:solidFill>
                <a:latin typeface="Calibri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320" y="4800600"/>
            <a:ext cx="2453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DO0 (đèn đỏ) =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Vòng quét cố định — giống PLC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FB8B8"/>
                </a:solidFill>
                <a:latin typeface="Calibri"/>
              </a:rPr>
              <a:t>Không xử lý ngay trong ngắt — mọi logic chạy trong 1 vòng lặp lặp lại đều đặn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14499" y="2267712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1862632" y="2415844"/>
            <a:ext cx="252374" cy="252374"/>
          </a:xfrm>
          <a:prstGeom prst="rightArrow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148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 spc="40">
                <a:solidFill>
                  <a:srgbClr val="FFFFFF"/>
                </a:solidFill>
                <a:latin typeface="Calibri"/>
              </a:rPr>
              <a:t>INPUT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ED2D2"/>
                </a:solidFill>
                <a:latin typeface="Calibri"/>
              </a:rPr>
              <a:t>Đọc DI/AI thật</a:t>
            </a:r>
          </a:p>
          <a:p>
            <a:pPr algn="ctr"/>
            <a:r>
              <a:rPr sz="1000" b="0" i="0">
                <a:solidFill>
                  <a:srgbClr val="BED2D2"/>
                </a:solidFill>
                <a:latin typeface="Calibri"/>
              </a:rPr>
              <a:t>→ Tag Table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1" y="2935224"/>
            <a:ext cx="329184" cy="256032"/>
          </a:xfrm>
          <a:prstGeom prst="rightArrow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38727" y="2011680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0268" y="2267712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ghtning Bolt 12"/>
          <p:cNvSpPr/>
          <p:nvPr/>
        </p:nvSpPr>
        <p:spPr>
          <a:xfrm>
            <a:off x="4578400" y="2415844"/>
            <a:ext cx="252374" cy="252374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971800"/>
            <a:ext cx="2148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 spc="40">
                <a:solidFill>
                  <a:srgbClr val="FFFFFF"/>
                </a:solidFill>
                <a:latin typeface="Calibri"/>
              </a:rPr>
              <a:t>RULE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29184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ED2D2"/>
                </a:solidFill>
                <a:latin typeface="Calibri"/>
              </a:rPr>
              <a:t>Duyệt + thực thi</a:t>
            </a:r>
          </a:p>
          <a:p>
            <a:pPr algn="ctr"/>
            <a:r>
              <a:rPr sz="1000" b="0" i="0">
                <a:solidFill>
                  <a:srgbClr val="BED2D2"/>
                </a:solidFill>
                <a:latin typeface="Calibri"/>
              </a:rPr>
              <a:t>Rule Table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97880" y="2935224"/>
            <a:ext cx="329184" cy="256032"/>
          </a:xfrm>
          <a:prstGeom prst="rightArrow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4496" y="2011680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46036" y="2267712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7294168" y="2415844"/>
            <a:ext cx="252374" cy="252374"/>
          </a:xfrm>
          <a:prstGeom prst="leftArrow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971800"/>
            <a:ext cx="2148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 spc="40">
                <a:solidFill>
                  <a:srgbClr val="FFFFFF"/>
                </a:solidFill>
                <a:latin typeface="Calibri"/>
              </a:rPr>
              <a:t>OUTPUT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329184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ED2D2"/>
                </a:solidFill>
                <a:latin typeface="Calibri"/>
              </a:rPr>
              <a:t>Ghi DO ra chân</a:t>
            </a:r>
          </a:p>
          <a:p>
            <a:pPr algn="ctr"/>
            <a:r>
              <a:rPr sz="1000" b="0" i="0">
                <a:solidFill>
                  <a:srgbClr val="BED2D2"/>
                </a:solidFill>
                <a:latin typeface="Calibri"/>
              </a:rPr>
              <a:t>thật, 1 lần/vòng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13648" y="2935224"/>
            <a:ext cx="329184" cy="256032"/>
          </a:xfrm>
          <a:prstGeom prst="rightArrow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70264" y="2011680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61804" y="2267712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10009936" y="2415844"/>
            <a:ext cx="252374" cy="252374"/>
          </a:xfrm>
          <a:prstGeom prst="hexag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1704" y="2971800"/>
            <a:ext cx="2148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 spc="40">
                <a:solidFill>
                  <a:srgbClr val="FFFFFF"/>
                </a:solidFill>
                <a:latin typeface="Calibri"/>
              </a:rPr>
              <a:t>MODBUS +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291840"/>
            <a:ext cx="2057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BED2D2"/>
                </a:solidFill>
                <a:latin typeface="Calibri"/>
              </a:rPr>
              <a:t>Xử lý khung RTU,</a:t>
            </a:r>
          </a:p>
          <a:p>
            <a:pPr algn="ctr"/>
            <a:r>
              <a:rPr sz="1000" b="0" i="0">
                <a:solidFill>
                  <a:srgbClr val="BED2D2"/>
                </a:solidFill>
                <a:latin typeface="Calibri"/>
              </a:rPr>
              <a:t>snapshot định kỳ</a:t>
            </a:r>
          </a:p>
        </p:txBody>
      </p:sp>
      <p:sp>
        <p:nvSpPr>
          <p:cNvPr id="28" name="Oval 27"/>
          <p:cNvSpPr/>
          <p:nvPr/>
        </p:nvSpPr>
        <p:spPr>
          <a:xfrm>
            <a:off x="4576572" y="461772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ircular Arrow 28"/>
          <p:cNvSpPr/>
          <p:nvPr/>
        </p:nvSpPr>
        <p:spPr>
          <a:xfrm>
            <a:off x="4749393" y="4790541"/>
            <a:ext cx="294436" cy="294436"/>
          </a:xfrm>
          <a:prstGeom prst="circularArrow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349240"/>
            <a:ext cx="104790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Lặp lại mỗi 10 ms  —  watchdog_kick() cuối mỗi vòng để tự hồi phục nếu treo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ision 3"/>
          <p:cNvSpPr/>
          <p:nvPr/>
        </p:nvSpPr>
        <p:spPr>
          <a:xfrm>
            <a:off x="788212" y="605332"/>
            <a:ext cx="252374" cy="252374"/>
          </a:xfrm>
          <a:prstGeom prst="flowChartDecisi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374904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0A4A4A"/>
                </a:solidFill>
                <a:latin typeface="Cambria"/>
              </a:rPr>
              <a:t>Case study: Gọi cấp liệu + đèn cảnh báo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4A4A"/>
                </a:solidFill>
                <a:latin typeface="Calibri"/>
              </a:rPr>
              <a:t>DI1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7474"/>
                </a:solidFill>
                <a:latin typeface="Calibri"/>
              </a:rPr>
              <a:t>Nút gọi cấp liệu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371600"/>
            <a:ext cx="1005840" cy="548640"/>
          </a:xfrm>
          <a:prstGeom prst="roundRect">
            <a:avLst>
              <a:gd name="adj" fmla="val 30000"/>
            </a:avLst>
          </a:prstGeom>
          <a:solidFill>
            <a:srgbClr val="FFF0E6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48132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E06B34"/>
                </a:solidFill>
                <a:latin typeface="Calibri"/>
              </a:rPr>
              <a:t>GUARD: DI0=ON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2066543"/>
            <a:ext cx="365760" cy="256032"/>
          </a:xfrm>
          <a:prstGeom prst="rightArrow">
            <a:avLst/>
          </a:prstGeom>
          <a:solidFill>
            <a:srgbClr val="5B7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23360" y="173736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8749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874519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4A4A"/>
                </a:solidFill>
                <a:latin typeface="Calibri"/>
              </a:rPr>
              <a:t>DO0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167128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0A4A4A"/>
                </a:solidFill>
                <a:latin typeface="Calibri"/>
              </a:rPr>
              <a:t>Đèn vàng (TOGGLE)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855464" y="2788920"/>
            <a:ext cx="256032" cy="310896"/>
          </a:xfrm>
          <a:prstGeom prst="downArrow">
            <a:avLst/>
          </a:prstGeom>
          <a:solidFill>
            <a:srgbClr val="5B7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108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1">
                <a:solidFill>
                  <a:srgbClr val="5B7474"/>
                </a:solidFill>
                <a:latin typeface="Calibri"/>
              </a:rPr>
              <a:t>nếu bật &gt; 10 giây (đếm bằng T1)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3520439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D94A4A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3657599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950207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Đèn đỏ (báo khẩn)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81178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0A4A4A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9215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8749"/>
                </a:solidFill>
                <a:latin typeface="Calibri"/>
              </a:rPr>
              <a:t>DO0 tắt (ON_FALL)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2232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→ T1 = 0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→ DO1 = 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0" y="2194560"/>
            <a:ext cx="1005840" cy="891540"/>
          </a:xfrm>
          <a:prstGeom prst="bentConnector3">
            <a:avLst/>
          </a:prstGeom>
          <a:ln w="19050">
            <a:solidFill>
              <a:srgbClr val="5B7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" y="4892040"/>
            <a:ext cx="84124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0292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7474"/>
                </a:solidFill>
                <a:latin typeface="Calibri"/>
              </a:rPr>
              <a:t>5 rule, mỗi rule 1 trigger — 1 action. Toggle tự xử lý cả 2 chiều bật/tắt; reset (T1, đèn đỏ) lắng nghe sự kiện "DO0 tắt" độc lập, không quan tâm lý do tắt.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788212" y="605332"/>
            <a:ext cx="252374" cy="252374"/>
          </a:xfrm>
          <a:prstGeom prst="homePlate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374904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0A4A4A"/>
                </a:solidFill>
                <a:latin typeface="Cambria"/>
              </a:rPr>
              <a:t>Mẫu cộng dồn nhiều nguồn vào 1 bộ đếm tổng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3736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A4A4A"/>
                </a:solidFill>
                <a:latin typeface="Calibri"/>
              </a:rPr>
              <a:t>DI2</a:t>
            </a:r>
          </a:p>
          <a:p>
            <a:pPr algn="ctr"/>
            <a:r>
              <a:rPr sz="1150" b="1" i="0">
                <a:solidFill>
                  <a:srgbClr val="0A4A4A"/>
                </a:solidFill>
                <a:latin typeface="Calibri"/>
              </a:rPr>
              <a:t>dây chuyền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749039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88620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0A4A4A"/>
                </a:solidFill>
                <a:latin typeface="Calibri"/>
              </a:rPr>
              <a:t>DI3</a:t>
            </a:r>
          </a:p>
          <a:p>
            <a:pPr algn="ctr"/>
            <a:r>
              <a:rPr sz="1150" b="1" i="0">
                <a:solidFill>
                  <a:srgbClr val="0A4A4A"/>
                </a:solidFill>
                <a:latin typeface="Calibri"/>
              </a:rPr>
              <a:t>dây chuyền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3736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Counter1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39" y="2194560"/>
            <a:ext cx="1737361" cy="0"/>
          </a:xfrm>
          <a:prstGeom prst="line">
            <a:avLst/>
          </a:prstGeom>
          <a:ln w="25400">
            <a:solidFill>
              <a:srgbClr val="FF8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3749039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6907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Counter2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34639" y="4206240"/>
            <a:ext cx="1737361" cy="0"/>
          </a:xfrm>
          <a:prstGeom prst="line">
            <a:avLst/>
          </a:prstGeom>
          <a:ln w="25400">
            <a:solidFill>
              <a:srgbClr val="FF8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03920" y="2743200"/>
            <a:ext cx="2011679" cy="1005840"/>
          </a:xfrm>
          <a:prstGeom prst="roundRect">
            <a:avLst>
              <a:gd name="adj" fmla="val 6000"/>
            </a:avLst>
          </a:prstGeom>
          <a:solidFill>
            <a:srgbClr val="FF8749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880360"/>
            <a:ext cx="20116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4A4A"/>
                </a:solidFill>
                <a:latin typeface="Calibri"/>
              </a:rPr>
              <a:t>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18688"/>
            <a:ext cx="20116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0A4A4A"/>
                </a:solidFill>
                <a:latin typeface="Calibri"/>
              </a:rPr>
              <a:t>(= Counter1</a:t>
            </a:r>
          </a:p>
          <a:p>
            <a:pPr algn="ctr"/>
            <a:r>
              <a:rPr sz="900" b="0" i="0">
                <a:solidFill>
                  <a:srgbClr val="0A4A4A"/>
                </a:solidFill>
                <a:latin typeface="Calibri"/>
              </a:rPr>
              <a:t>+ Counter2)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39" y="2194560"/>
            <a:ext cx="5669281" cy="1051560"/>
          </a:xfrm>
          <a:prstGeom prst="bentConnector3">
            <a:avLst/>
          </a:prstGeom>
          <a:ln w="25400">
            <a:solidFill>
              <a:srgbClr val="E06B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834639" y="3246120"/>
            <a:ext cx="5669281" cy="960120"/>
          </a:xfrm>
          <a:prstGeom prst="bentConnector3">
            <a:avLst/>
          </a:prstGeom>
          <a:ln w="25400">
            <a:solidFill>
              <a:srgbClr val="E06B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5120640"/>
            <a:ext cx="10332720" cy="1188720"/>
          </a:xfrm>
          <a:prstGeom prst="roundRect">
            <a:avLst>
              <a:gd name="adj" fmla="val 6000"/>
            </a:avLst>
          </a:prstGeom>
          <a:solidFill>
            <a:srgbClr val="0A4A4A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30352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8749"/>
                </a:solidFill>
                <a:latin typeface="Calibri"/>
              </a:rPr>
              <a:t>Mỗi input bơm vào 2 bộ đếm CÙNG LÚC, bằng 2 rule riêng chung 1 trigger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715000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BED2D2"/>
                </a:solidFill>
                <a:latin typeface="Calibri"/>
              </a:rPr>
              <a:t>Dùng ACT_INC_COUNTER (cộng hằng số), KHÔNG dùng ACT_ADD_TAG (cộng giá trị sống) cho ca này — tránh đúng lỗi đếm lặp (double counting).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788212" y="605332"/>
            <a:ext cx="252374" cy="252374"/>
          </a:xfrm>
          <a:prstGeom prst="upArrow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374904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 i="0">
                <a:solidFill>
                  <a:srgbClr val="0A4A4A"/>
                </a:solidFill>
                <a:latin typeface="Cambria"/>
              </a:rPr>
              <a:t>Nạp cấu hình qua Modbus — trình tự 5 bước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79" y="1188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A4A4A"/>
                </a:solidFill>
                <a:latin typeface="Calibri"/>
              </a:rPr>
              <a:t>PC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188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A4A4A"/>
                </a:solidFill>
                <a:latin typeface="Calibri"/>
              </a:rPr>
              <a:t>THIẾT BỊ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1600200"/>
            <a:ext cx="0" cy="4709160"/>
          </a:xfrm>
          <a:prstGeom prst="line">
            <a:avLst/>
          </a:prstGeom>
          <a:ln w="15875">
            <a:solidFill>
              <a:srgbClr val="9F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020824" y="1517904"/>
            <a:ext cx="164592" cy="164592"/>
          </a:xfrm>
          <a:prstGeom prst="ellipse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418320" y="1600200"/>
            <a:ext cx="0" cy="4709160"/>
          </a:xfrm>
          <a:prstGeom prst="line">
            <a:avLst/>
          </a:prstGeom>
          <a:ln w="15875">
            <a:solidFill>
              <a:srgbClr val="9F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336024" y="1517904"/>
            <a:ext cx="164592" cy="164592"/>
          </a:xfrm>
          <a:prstGeom prst="ellipse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103120" y="2153412"/>
            <a:ext cx="7315200" cy="0"/>
          </a:xfrm>
          <a:prstGeom prst="line">
            <a:avLst/>
          </a:prstGeom>
          <a:ln w="22225">
            <a:solidFill>
              <a:srgbClr val="E06B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77439" y="1559052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0A4A4A"/>
                </a:solidFill>
                <a:latin typeface="Calibri"/>
              </a:rPr>
              <a:t>Ghi RULE_COUNT_STAGED + EXPECTED_CRC32</a:t>
            </a:r>
          </a:p>
        </p:txBody>
      </p:sp>
      <p:sp>
        <p:nvSpPr>
          <p:cNvPr id="14" name="Oval 13"/>
          <p:cNvSpPr/>
          <p:nvPr/>
        </p:nvSpPr>
        <p:spPr>
          <a:xfrm>
            <a:off x="5596128" y="1988820"/>
            <a:ext cx="329184" cy="329184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A4A4A"/>
                </a:solidFill>
                <a:latin typeface="Calibri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03120" y="3076956"/>
            <a:ext cx="7315200" cy="0"/>
          </a:xfrm>
          <a:prstGeom prst="line">
            <a:avLst/>
          </a:prstGeom>
          <a:ln w="22225">
            <a:solidFill>
              <a:srgbClr val="E06B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77439" y="2482596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0A4A4A"/>
                </a:solidFill>
                <a:latin typeface="Calibri"/>
              </a:rPr>
              <a:t>Ghi STAGING_BUFFER (nhiều khung FC16)</a:t>
            </a:r>
          </a:p>
        </p:txBody>
      </p:sp>
      <p:sp>
        <p:nvSpPr>
          <p:cNvPr id="17" name="Oval 16"/>
          <p:cNvSpPr/>
          <p:nvPr/>
        </p:nvSpPr>
        <p:spPr>
          <a:xfrm>
            <a:off x="5596128" y="2912364"/>
            <a:ext cx="329184" cy="329184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A4A4A"/>
                </a:solidFill>
                <a:latin typeface="Calibri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103120" y="4000500"/>
            <a:ext cx="7315200" cy="0"/>
          </a:xfrm>
          <a:prstGeom prst="line">
            <a:avLst/>
          </a:prstGeom>
          <a:ln w="22225">
            <a:solidFill>
              <a:srgbClr val="E06B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77439" y="340614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0A4A4A"/>
                </a:solidFill>
                <a:latin typeface="Calibri"/>
              </a:rPr>
              <a:t>Đọc CONFIG_STATUS để xác nhận đã nhận đủ</a:t>
            </a:r>
          </a:p>
        </p:txBody>
      </p:sp>
      <p:sp>
        <p:nvSpPr>
          <p:cNvPr id="20" name="Oval 19"/>
          <p:cNvSpPr/>
          <p:nvPr/>
        </p:nvSpPr>
        <p:spPr>
          <a:xfrm>
            <a:off x="5596128" y="3835908"/>
            <a:ext cx="329184" cy="329184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A4A4A"/>
                </a:solidFill>
                <a:latin typeface="Calibri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03120" y="4924044"/>
            <a:ext cx="7315200" cy="0"/>
          </a:xfrm>
          <a:prstGeom prst="line">
            <a:avLst/>
          </a:prstGeom>
          <a:ln w="22225">
            <a:solidFill>
              <a:srgbClr val="E06B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77439" y="4329684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0A4A4A"/>
                </a:solidFill>
                <a:latin typeface="Calibri"/>
              </a:rPr>
              <a:t>Ghi COMMIT_COMMAND = 0xA5A5</a:t>
            </a:r>
          </a:p>
        </p:txBody>
      </p:sp>
      <p:sp>
        <p:nvSpPr>
          <p:cNvPr id="23" name="Oval 22"/>
          <p:cNvSpPr/>
          <p:nvPr/>
        </p:nvSpPr>
        <p:spPr>
          <a:xfrm>
            <a:off x="5596128" y="4759452"/>
            <a:ext cx="329184" cy="329184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A4A4A"/>
                </a:solidFill>
                <a:latin typeface="Calibri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103120" y="5847588"/>
            <a:ext cx="7315200" cy="0"/>
          </a:xfrm>
          <a:prstGeom prst="line">
            <a:avLst/>
          </a:prstGeom>
          <a:ln w="22225">
            <a:solidFill>
              <a:srgbClr val="E06B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77439" y="5253228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0A4A4A"/>
                </a:solidFill>
                <a:latin typeface="Calibri"/>
              </a:rPr>
              <a:t>Thiết bị tự kiểm tra CRC, atomic-swap, tăng version</a:t>
            </a:r>
          </a:p>
        </p:txBody>
      </p:sp>
      <p:sp>
        <p:nvSpPr>
          <p:cNvPr id="26" name="Oval 25"/>
          <p:cNvSpPr/>
          <p:nvPr/>
        </p:nvSpPr>
        <p:spPr>
          <a:xfrm>
            <a:off x="5596128" y="5682996"/>
            <a:ext cx="329184" cy="329184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0A4A4A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Lưu trữ bền vững — chống mất điện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FB8B8"/>
                </a:solidFill>
                <a:latin typeface="Calibri"/>
              </a:rPr>
              <a:t>Option A đã chốt: snapshot định kỳ + phát hiện sụt áp (PVD), không cần chip FRAM ngoài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8749"/>
                </a:solidFill>
                <a:latin typeface="Calibri"/>
              </a:rPr>
              <a:t>1. Snapshot định kỳ — xoay vòng 8 sector Flash</a:t>
            </a:r>
          </a:p>
        </p:txBody>
      </p:sp>
      <p:sp>
        <p:nvSpPr>
          <p:cNvPr id="6" name="Oval 5"/>
          <p:cNvSpPr/>
          <p:nvPr/>
        </p:nvSpPr>
        <p:spPr>
          <a:xfrm>
            <a:off x="2788920" y="228600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2286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A4A4A"/>
                </a:solidFill>
                <a:latin typeface="Calibri"/>
              </a:rPr>
              <a:t>S1</a:t>
            </a:r>
          </a:p>
        </p:txBody>
      </p:sp>
      <p:sp>
        <p:nvSpPr>
          <p:cNvPr id="8" name="Oval 7"/>
          <p:cNvSpPr/>
          <p:nvPr/>
        </p:nvSpPr>
        <p:spPr>
          <a:xfrm>
            <a:off x="3661800" y="2647559"/>
            <a:ext cx="640080" cy="640080"/>
          </a:xfrm>
          <a:prstGeom prst="ellipse">
            <a:avLst/>
          </a:prstGeom>
          <a:solidFill>
            <a:srgbClr val="14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61800" y="264755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ED2D2"/>
                </a:solidFill>
                <a:latin typeface="Calibri"/>
              </a:rPr>
              <a:t>S2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3520440"/>
            <a:ext cx="640080" cy="640080"/>
          </a:xfrm>
          <a:prstGeom prst="ellipse">
            <a:avLst/>
          </a:prstGeom>
          <a:solidFill>
            <a:srgbClr val="14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35204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ED2D2"/>
                </a:solidFill>
                <a:latin typeface="Calibri"/>
              </a:rPr>
              <a:t>S3</a:t>
            </a:r>
          </a:p>
        </p:txBody>
      </p:sp>
      <p:sp>
        <p:nvSpPr>
          <p:cNvPr id="12" name="Oval 11"/>
          <p:cNvSpPr/>
          <p:nvPr/>
        </p:nvSpPr>
        <p:spPr>
          <a:xfrm>
            <a:off x="3661800" y="4393320"/>
            <a:ext cx="640080" cy="640080"/>
          </a:xfrm>
          <a:prstGeom prst="ellipse">
            <a:avLst/>
          </a:prstGeom>
          <a:solidFill>
            <a:srgbClr val="14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1800" y="4393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ED2D2"/>
                </a:solidFill>
                <a:latin typeface="Calibri"/>
              </a:rPr>
              <a:t>S4</a:t>
            </a:r>
          </a:p>
        </p:txBody>
      </p:sp>
      <p:sp>
        <p:nvSpPr>
          <p:cNvPr id="14" name="Oval 13"/>
          <p:cNvSpPr/>
          <p:nvPr/>
        </p:nvSpPr>
        <p:spPr>
          <a:xfrm>
            <a:off x="2788920" y="4754880"/>
            <a:ext cx="640080" cy="640080"/>
          </a:xfrm>
          <a:prstGeom prst="ellipse">
            <a:avLst/>
          </a:prstGeom>
          <a:solidFill>
            <a:srgbClr val="14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4754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ED2D2"/>
                </a:solidFill>
                <a:latin typeface="Calibri"/>
              </a:rPr>
              <a:t>S5</a:t>
            </a:r>
          </a:p>
        </p:txBody>
      </p:sp>
      <p:sp>
        <p:nvSpPr>
          <p:cNvPr id="16" name="Oval 15"/>
          <p:cNvSpPr/>
          <p:nvPr/>
        </p:nvSpPr>
        <p:spPr>
          <a:xfrm>
            <a:off x="1916039" y="4393320"/>
            <a:ext cx="640080" cy="640080"/>
          </a:xfrm>
          <a:prstGeom prst="ellipse">
            <a:avLst/>
          </a:prstGeom>
          <a:solidFill>
            <a:srgbClr val="14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16039" y="4393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ED2D2"/>
                </a:solidFill>
                <a:latin typeface="Calibri"/>
              </a:rPr>
              <a:t>S6</a:t>
            </a:r>
          </a:p>
        </p:txBody>
      </p:sp>
      <p:sp>
        <p:nvSpPr>
          <p:cNvPr id="18" name="Oval 17"/>
          <p:cNvSpPr/>
          <p:nvPr/>
        </p:nvSpPr>
        <p:spPr>
          <a:xfrm>
            <a:off x="1554480" y="3520440"/>
            <a:ext cx="640080" cy="640080"/>
          </a:xfrm>
          <a:prstGeom prst="ellipse">
            <a:avLst/>
          </a:prstGeom>
          <a:solidFill>
            <a:srgbClr val="14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5204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ED2D2"/>
                </a:solidFill>
                <a:latin typeface="Calibri"/>
              </a:rPr>
              <a:t>S7</a:t>
            </a:r>
          </a:p>
        </p:txBody>
      </p:sp>
      <p:sp>
        <p:nvSpPr>
          <p:cNvPr id="20" name="Oval 19"/>
          <p:cNvSpPr/>
          <p:nvPr/>
        </p:nvSpPr>
        <p:spPr>
          <a:xfrm>
            <a:off x="1916039" y="2647559"/>
            <a:ext cx="640080" cy="640080"/>
          </a:xfrm>
          <a:prstGeom prst="ellipse">
            <a:avLst/>
          </a:prstGeom>
          <a:solidFill>
            <a:srgbClr val="14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16039" y="264755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ED2D2"/>
                </a:solidFill>
                <a:latin typeface="Calibri"/>
              </a:rPr>
              <a:t>S8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639312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ghi mỗi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5 phút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ED2D2"/>
                </a:solidFill>
                <a:latin typeface="Calibri"/>
              </a:rPr>
              <a:t>Sector đầy → xoá sector kế tiếp trong vòng, ghi tiếp. Ở chu kỳ 5 phút, ước tính ~48 năm mới hết tuổi thọ Flash (xem docx mục 7.1).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6916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8749"/>
                </a:solidFill>
                <a:latin typeface="Calibri"/>
              </a:rPr>
              <a:t>2. Phát hiện sụt áp (PVD) — lưới an toàn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19456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37960" y="2359152"/>
            <a:ext cx="457200" cy="45720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ightning Bolt 26"/>
          <p:cNvSpPr/>
          <p:nvPr/>
        </p:nvSpPr>
        <p:spPr>
          <a:xfrm>
            <a:off x="6661404" y="2482596"/>
            <a:ext cx="210312" cy="210312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30428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VDD bắt đầu tụt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63347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ED2D2"/>
                </a:solidFill>
                <a:latin typeface="Calibri"/>
              </a:rPr>
              <a:t>PVD (có sẵn trên STM32H523) phát hiện qua ngưỡng cấu hình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686800" y="3163824"/>
            <a:ext cx="219456" cy="118872"/>
          </a:xfrm>
          <a:prstGeom prst="downArrow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329184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37960" y="3456432"/>
            <a:ext cx="457200" cy="45720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ecision 32"/>
          <p:cNvSpPr/>
          <p:nvPr/>
        </p:nvSpPr>
        <p:spPr>
          <a:xfrm>
            <a:off x="6661404" y="3579876"/>
            <a:ext cx="210312" cy="210312"/>
          </a:xfrm>
          <a:prstGeom prst="flowChartDecisi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340156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Ngắt ưu tiên cao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73075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ED2D2"/>
                </a:solidFill>
                <a:latin typeface="Calibri"/>
              </a:rPr>
              <a:t>PVD_IRQHandler() kích hoạt ngay lập tức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8686800" y="4261104"/>
            <a:ext cx="219456" cy="118872"/>
          </a:xfrm>
          <a:prstGeom prst="downArrow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0" y="438912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37960" y="4553712"/>
            <a:ext cx="457200" cy="45720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Up Arrow 38"/>
          <p:cNvSpPr/>
          <p:nvPr/>
        </p:nvSpPr>
        <p:spPr>
          <a:xfrm>
            <a:off x="6661404" y="4677156"/>
            <a:ext cx="210312" cy="210312"/>
          </a:xfrm>
          <a:prstGeom prst="upArrow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449884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Ghi khẩn cấp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82803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ED2D2"/>
                </a:solidFill>
                <a:latin typeface="Calibri"/>
              </a:rPr>
              <a:t>1 lần snapshot cuối, dùng năng lượng dự trữ từ tụ lọc nguồn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4864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9FB8B8"/>
                </a:solidFill>
                <a:latin typeface="Calibri"/>
              </a:rPr>
              <a:t>Yêu cầu phần cứng: đủ tụ dự trữ để hoàn tất ghi Flash trước khi mất điện hẳn — đội thiết kế điện tính cụ thể theo dòng tiêu thụ thực đo.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Tóm tắt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8749"/>
                </a:solidFill>
                <a:latin typeface="Calibri"/>
              </a:rPr>
              <a:t>28 byte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BED2D2"/>
                </a:solidFill>
                <a:latin typeface="Calibri"/>
              </a:rPr>
              <a:t>kích thước 1 rule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73736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8749"/>
                </a:solidFill>
                <a:latin typeface="Calibri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31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BED2D2"/>
                </a:solidFill>
                <a:latin typeface="Calibri"/>
              </a:rPr>
              <a:t>rule tối đa/thiết bị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73736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8749"/>
                </a:solidFill>
                <a:latin typeface="Calibri"/>
              </a:rPr>
              <a:t>10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331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BED2D2"/>
                </a:solidFill>
                <a:latin typeface="Calibri"/>
              </a:rPr>
              <a:t>chu kỳ quét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55448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73736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8749"/>
                </a:solidFill>
                <a:latin typeface="Calibri"/>
              </a:rPr>
              <a:t>~48 năm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331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BED2D2"/>
                </a:solidFill>
                <a:latin typeface="Calibri"/>
              </a:rPr>
              <a:t>tuổi thọ Flash retain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91839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20439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8749"/>
                </a:solidFill>
                <a:latin typeface="Calibri"/>
              </a:rPr>
              <a:t>Thiết kế đã chốt — tài liệu tham chiếu: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SimplePLC_RuleStruct_MCU_Spec_v0.1.docx — tài liệu yêu cầu &amp; kiến trúc đầy đủ cho đội phát triển.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